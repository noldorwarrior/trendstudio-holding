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95A5"/>
    <a:srgbClr val="E1E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4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Кино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258</c:v>
                </c:pt>
                <c:pt idx="2">
                  <c:v>557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24-4DA6-B939-5E9F1E596A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Реклама</c:v>
                </c:pt>
              </c:strCache>
            </c:strRef>
          </c:tx>
          <c:spPr>
            <a:solidFill>
              <a:srgbClr val="F5C56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194</c:v>
                </c:pt>
                <c:pt idx="2">
                  <c:v>418</c:v>
                </c:pt>
                <c:pt idx="3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24-4DA6-B939-5E9F1E596A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Фестивали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</c:v>
                </c:pt>
                <c:pt idx="1">
                  <c:v>116</c:v>
                </c:pt>
                <c:pt idx="2">
                  <c:v>251</c:v>
                </c:pt>
                <c:pt idx="3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24-4DA6-B939-5E9F1E596A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Обучение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36</c:v>
                </c:pt>
                <c:pt idx="1">
                  <c:v>78</c:v>
                </c:pt>
                <c:pt idx="2">
                  <c:v>167</c:v>
                </c:pt>
                <c:pt idx="3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924-4DA6-B939-5E9F1E596A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5A5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A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A5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B95A5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0F1D3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D4A843"/>
                </a:solidFill>
                <a:latin typeface="Arial"/>
              </a:defRPr>
            </a:pPr>
            <a:r>
              <a:rPr lang="ru-RU" sz="1100" b="0" i="0" u="none" strike="noStrike">
                <a:solidFill>
                  <a:srgbClr val="D4A843"/>
                </a:solidFill>
                <a:latin typeface="Arial"/>
              </a:rPr>
              <a:t>Использование средств · 1.25 млрд ₽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Использование средств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8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0C1-4EE2-A012-89D28BEFDE0A}"/>
              </c:ext>
            </c:extLst>
          </c:dPt>
          <c:dPt>
            <c:idx val="1"/>
            <c:bubble3D val="0"/>
            <c:spPr>
              <a:solidFill>
                <a:srgbClr val="F5C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C1-4EE2-A012-89D28BEFDE0A}"/>
              </c:ext>
            </c:extLst>
          </c:dPt>
          <c:dPt>
            <c:idx val="2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C1-4EE2-A012-89D28BEFDE0A}"/>
              </c:ext>
            </c:extLst>
          </c:dPt>
          <c:dPt>
            <c:idx val="3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C1-4EE2-A012-89D28BEFDE0A}"/>
              </c:ext>
            </c:extLst>
          </c:dPt>
          <c:dPt>
            <c:idx val="4"/>
            <c:bubble3D val="0"/>
            <c:spPr>
              <a:solidFill>
                <a:srgbClr val="8B9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0C1-4EE2-A012-89D28BEFDE0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C1-4EE2-A012-89D28BEFDE0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C1-4EE2-A012-89D28BEFDE0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C1-4EE2-A012-89D28BEFDE0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C1-4EE2-A012-89D28BEFDE0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0C1-4EE2-A012-89D28BEFDE0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4"/>
                <c:pt idx="0">
                  <c:v>Кино</c:v>
                </c:pt>
                <c:pt idx="1">
                  <c:v>Реклама</c:v>
                </c:pt>
                <c:pt idx="2">
                  <c:v>Фестивали</c:v>
                </c:pt>
                <c:pt idx="3">
                  <c:v>Обучение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30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0C1-4EE2-A012-89D28BEFDE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overlay val="0"/>
      <c:txPr>
        <a:bodyPr/>
        <a:lstStyle/>
        <a:p>
          <a:pPr>
            <a:defRPr sz="800">
              <a:solidFill>
                <a:srgbClr val="8B95A5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1522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72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chart" Target="../charts/char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594804"/>
            <a:ext cx="9144000" cy="913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4000" b="1" kern="0" spc="800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ТРЕНД СТУДИО ХОЛДИНГ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Контентная фабрика нового поколения: кино × блогеры × бренды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0" y="2057400"/>
            <a:ext cx="365760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434340" y="2331720"/>
            <a:ext cx="1828800" cy="1371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434340" y="23317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4688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 млн +</a:t>
            </a: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₽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343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2025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583180" y="2331720"/>
            <a:ext cx="1828800" cy="1371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9"/>
          <p:cNvSpPr/>
          <p:nvPr/>
        </p:nvSpPr>
        <p:spPr>
          <a:xfrm>
            <a:off x="2583180" y="23317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4688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831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115,44%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5831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выручки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32020" y="2331720"/>
            <a:ext cx="1828800" cy="1371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3"/>
          <p:cNvSpPr/>
          <p:nvPr/>
        </p:nvSpPr>
        <p:spPr>
          <a:xfrm>
            <a:off x="4732020" y="23317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4688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3202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3 млрд </a:t>
            </a: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₽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473202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2028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880860" y="2331720"/>
            <a:ext cx="1828800" cy="1371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17"/>
          <p:cNvSpPr/>
          <p:nvPr/>
        </p:nvSpPr>
        <p:spPr>
          <a:xfrm>
            <a:off x="6880860" y="23317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246888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8086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r>
              <a:rPr lang="ru-RU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00</a:t>
            </a: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en-US" sz="2200" b="1" dirty="0" err="1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млн</a:t>
            </a:r>
            <a:r>
              <a:rPr lang="ru-RU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+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688086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направления  ·  1 экосистема  ·  Готовый pipeline для стратегического партнёра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РЫНОК И ПОЗИЦИОНИРОВАНИЕ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рынок контента: $3.2 млрд и окно возможностей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657600" cy="32004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124328" y="14493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</a:rPr>
              <a:t>TAM</a:t>
            </a:r>
            <a:endParaRPr lang="en-US" sz="10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$3.2 млрд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2011680"/>
            <a:ext cx="2560320" cy="2194560"/>
          </a:xfrm>
          <a:prstGeom prst="ellipse">
            <a:avLst/>
          </a:prstGeom>
          <a:solidFill>
            <a:srgbClr val="1E3A5A"/>
          </a:solidFill>
          <a:ln w="12700">
            <a:solidFill>
              <a:srgbClr val="F5C5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</a:rPr>
              <a:t>SAM</a:t>
            </a:r>
            <a:endParaRPr lang="en-US" sz="10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$980 млн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2743200"/>
            <a:ext cx="1554480" cy="1280160"/>
          </a:xfrm>
          <a:prstGeom prst="ellipse">
            <a:avLst/>
          </a:prstGeom>
          <a:solidFill>
            <a:srgbClr val="D4A843">
              <a:alpha val="80000"/>
            </a:srgbClr>
          </a:solidFill>
          <a:ln w="25400">
            <a:solidFill>
              <a:srgbClr val="F5C5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1920240" y="2880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2238"/>
                </a:solidFill>
              </a:rPr>
              <a:t>SOM 2028</a:t>
            </a:r>
            <a:endParaRPr lang="en-US" sz="9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$40 млн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54864" cy="10058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1732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77840" y="1325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Окно возможностей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8B95A5"/>
                </a:solidFill>
              </a:rPr>
              <a:t>Уход западных мейджоров → дефицит контента → рост спроса на локальное производство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06640" y="2011680"/>
            <a:ext cx="128016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7406640" y="2011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+52% доля </a:t>
            </a:r>
            <a:r>
              <a:rPr lang="ru-RU" sz="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внутреннего</a:t>
            </a:r>
            <a:r>
              <a:rPr lang="en-US" sz="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контента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846320" y="242316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4846320" y="2423160"/>
            <a:ext cx="54864" cy="1005840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56032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7784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Кросс-платформенная синергия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8B95A5"/>
                </a:solidFill>
              </a:rPr>
              <a:t xml:space="preserve">Единственная структура, связывающая кинопроизводство </a:t>
            </a:r>
            <a:r>
              <a:rPr lang="en-US" sz="900" dirty="0" err="1">
                <a:solidFill>
                  <a:srgbClr val="8B95A5"/>
                </a:solidFill>
              </a:rPr>
              <a:t>с</a:t>
            </a:r>
            <a:r>
              <a:rPr lang="en-US" sz="900" dirty="0">
                <a:solidFill>
                  <a:srgbClr val="8B95A5"/>
                </a:solidFill>
              </a:rPr>
              <a:t xml:space="preserve"> </a:t>
            </a:r>
            <a:r>
              <a:rPr lang="en-US" sz="900" dirty="0" err="1">
                <a:solidFill>
                  <a:srgbClr val="8B95A5"/>
                </a:solidFill>
              </a:rPr>
              <a:t>инфлюенс-экономикой</a:t>
            </a:r>
            <a:r>
              <a:rPr lang="ru-RU" sz="900" dirty="0">
                <a:solidFill>
                  <a:srgbClr val="8B95A5"/>
                </a:solidFill>
              </a:rPr>
              <a:t xml:space="preserve">, фестивалями и онлайн-обучением 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406640" y="3154680"/>
            <a:ext cx="1280160" cy="201168"/>
          </a:xfrm>
          <a:prstGeom prst="rect">
            <a:avLst/>
          </a:prstGeom>
          <a:solidFill>
            <a:srgbClr val="F5C56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8"/>
          <p:cNvSpPr/>
          <p:nvPr/>
        </p:nvSpPr>
        <p:spPr>
          <a:xfrm>
            <a:off x="7406640" y="3154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4-в-1 экосистема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846320" y="356616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0"/>
          <p:cNvSpPr/>
          <p:nvPr/>
        </p:nvSpPr>
        <p:spPr>
          <a:xfrm>
            <a:off x="4846320" y="3566160"/>
            <a:ext cx="54864" cy="100584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70332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77840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Рост рынка +12% CAGR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8B95A5"/>
                </a:solidFill>
              </a:rPr>
              <a:t>Стриминговые платформы наращивают бюджеты на original content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406640" y="4297680"/>
            <a:ext cx="1280160" cy="201168"/>
          </a:xfrm>
          <a:prstGeom prst="rect">
            <a:avLst/>
          </a:prstGeom>
          <a:solidFill>
            <a:srgbClr val="2ECC71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3"/>
          <p:cNvSpPr/>
          <p:nvPr/>
        </p:nvSpPr>
        <p:spPr>
          <a:xfrm>
            <a:off x="740664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 +22% г/г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ФИНАНСОВЫЕ ПОКАЗАТЕЛИ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300 млн к 3 млрд ₽ за 3 года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97280"/>
            <a:ext cx="3108960" cy="3200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59436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Ключевые метрики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0" y="1600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2028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1600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млрд 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856232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5943600" y="1856232"/>
            <a:ext cx="2432304" cy="36576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5943600" y="1984248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5943600" y="2029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2028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20299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млрд ₽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0" y="2286000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5943600" y="2286000"/>
            <a:ext cx="1792224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5943600" y="2414016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5943600" y="24597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margin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98080" y="24597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0" y="2715768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5943600" y="2715768"/>
            <a:ext cx="1536192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5943600" y="2843784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5943600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 2028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98080" y="28895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млрд ₽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943600" y="3145536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3"/>
          <p:cNvSpPr/>
          <p:nvPr/>
        </p:nvSpPr>
        <p:spPr>
          <a:xfrm>
            <a:off x="5943600" y="3145536"/>
            <a:ext cx="1408176" cy="36576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4"/>
          <p:cNvSpPr/>
          <p:nvPr/>
        </p:nvSpPr>
        <p:spPr>
          <a:xfrm>
            <a:off x="5943600" y="3273552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/>
          <p:nvPr/>
        </p:nvSpPr>
        <p:spPr>
          <a:xfrm>
            <a:off x="5943600" y="3319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выручки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498080" y="3319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115%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943600" y="3575304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Shape 28"/>
          <p:cNvSpPr/>
          <p:nvPr/>
        </p:nvSpPr>
        <p:spPr>
          <a:xfrm>
            <a:off x="5943600" y="3575304"/>
            <a:ext cx="2176272" cy="36576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Shape 29"/>
          <p:cNvSpPr/>
          <p:nvPr/>
        </p:nvSpPr>
        <p:spPr>
          <a:xfrm>
            <a:off x="5943600" y="3703320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/>
          <p:nvPr/>
        </p:nvSpPr>
        <p:spPr>
          <a:xfrm>
            <a:off x="594360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98080" y="3749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943600" y="4005072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Shape 33"/>
          <p:cNvSpPr/>
          <p:nvPr/>
        </p:nvSpPr>
        <p:spPr>
          <a:xfrm>
            <a:off x="5943600" y="4005072"/>
            <a:ext cx="1152144" cy="36576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выручки 2028: Кино 40% · Реклама 30% · Фестивали 18% · Обучение 12%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ЭКОНОМИКА НАПРАВЛЕНИЙ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Юнит-экономика и ключевые драйверы каждого бизнеса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3840480" cy="16916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54864" cy="16916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Кино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83280" y="1280160"/>
            <a:ext cx="914400" cy="274320"/>
          </a:xfrm>
          <a:prstGeom prst="rect">
            <a:avLst/>
          </a:prstGeom>
          <a:solidFill>
            <a:srgbClr val="D4A843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338328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89%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8016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</a:t>
            </a: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</a:t>
            </a:r>
            <a:r>
              <a:rPr lang="ru-RU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ов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88036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1,85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₽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28016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проекта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880360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₽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280160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на проект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880360" y="2203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280160" y="2459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Pipeline </a:t>
            </a:r>
            <a:r>
              <a:rPr lang="ru-RU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3 года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80360" y="2459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п/</a:t>
            </a:r>
            <a:r>
              <a:rPr lang="en-US" sz="1000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сериала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1143000"/>
            <a:ext cx="3840480" cy="16916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7"/>
          <p:cNvSpPr/>
          <p:nvPr/>
        </p:nvSpPr>
        <p:spPr>
          <a:xfrm>
            <a:off x="4709160" y="1143000"/>
            <a:ext cx="54864" cy="1691640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949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Реклама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498080" y="1280160"/>
            <a:ext cx="914400" cy="274320"/>
          </a:xfrm>
          <a:prstGeom prst="rect">
            <a:avLst/>
          </a:prstGeom>
          <a:solidFill>
            <a:srgbClr val="F5C563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0"/>
          <p:cNvSpPr/>
          <p:nvPr/>
        </p:nvSpPr>
        <p:spPr>
          <a:xfrm>
            <a:off x="749808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COM </a:t>
            </a:r>
            <a:r>
              <a:rPr lang="ru-RU" sz="9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r>
              <a:rPr lang="en-US" sz="9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39496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cs typeface="Arial" pitchFamily="34" charset="-120"/>
              </a:rPr>
              <a:t>Продукт-плейсмент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99516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cs typeface="Arial" pitchFamily="34" charset="-120"/>
              </a:rPr>
              <a:t xml:space="preserve">500 млн+ 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₽</a:t>
            </a:r>
            <a:r>
              <a:rPr lang="ru-RU" sz="1000" dirty="0">
                <a:solidFill>
                  <a:srgbClr val="E0E4EB"/>
                </a:solidFill>
                <a:latin typeface="Arial" pitchFamily="34" charset="0"/>
                <a:cs typeface="Arial" pitchFamily="34" charset="-120"/>
              </a:rPr>
              <a:t xml:space="preserve"> 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39496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Комиссия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995160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394960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 на бренд</a:t>
            </a:r>
            <a:endParaRPr lang="en-US" sz="1000" dirty="0">
              <a:solidFill>
                <a:srgbClr val="8B95A5"/>
              </a:solidFill>
            </a:endParaRPr>
          </a:p>
        </p:txBody>
      </p:sp>
      <p:sp>
        <p:nvSpPr>
          <p:cNvPr id="30" name="Text 26"/>
          <p:cNvSpPr/>
          <p:nvPr/>
        </p:nvSpPr>
        <p:spPr>
          <a:xfrm>
            <a:off x="6995160" y="2203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млн ₽/год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394960" y="2459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Бренды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995160" y="2459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брендов ежегодно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594360" y="3108960"/>
            <a:ext cx="3840480" cy="16916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4" name="Shape 30"/>
          <p:cNvSpPr/>
          <p:nvPr/>
        </p:nvSpPr>
        <p:spPr>
          <a:xfrm>
            <a:off x="594360" y="3108960"/>
            <a:ext cx="54864" cy="169164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91840"/>
            <a:ext cx="365760" cy="36576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2801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Фестивали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3383280" y="3246120"/>
            <a:ext cx="914400" cy="274320"/>
          </a:xfrm>
          <a:prstGeom prst="rect">
            <a:avLst/>
          </a:prstGeom>
          <a:solidFill>
            <a:srgbClr val="3498DB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3"/>
          <p:cNvSpPr/>
          <p:nvPr/>
        </p:nvSpPr>
        <p:spPr>
          <a:xfrm>
            <a:off x="338328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92</a:t>
            </a:r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9" name="Text 34"/>
          <p:cNvSpPr/>
          <p:nvPr/>
        </p:nvSpPr>
        <p:spPr>
          <a:xfrm>
            <a:off x="128016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cs typeface="Arial" pitchFamily="34" charset="-120"/>
              </a:rPr>
              <a:t>Посещаемость за 3 года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288036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млн + чел.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128016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cs typeface="Arial" pitchFamily="34" charset="-120"/>
              </a:rPr>
              <a:t>Охват городов</a:t>
            </a:r>
            <a:endParaRPr lang="en-US" sz="1000" dirty="0">
              <a:solidFill>
                <a:srgbClr val="8B95A5"/>
              </a:solidFill>
            </a:endParaRPr>
          </a:p>
        </p:txBody>
      </p:sp>
      <p:sp>
        <p:nvSpPr>
          <p:cNvPr id="42" name="Text 37"/>
          <p:cNvSpPr/>
          <p:nvPr/>
        </p:nvSpPr>
        <p:spPr>
          <a:xfrm>
            <a:off x="2880360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Text 38"/>
          <p:cNvSpPr/>
          <p:nvPr/>
        </p:nvSpPr>
        <p:spPr>
          <a:xfrm>
            <a:off x="128016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 охват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2880360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50 млн+ 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1280160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r>
              <a:rPr lang="ru-RU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за 3 года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288036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6 </a:t>
            </a: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фестивалей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4709160" y="3108960"/>
            <a:ext cx="3840480" cy="16916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8" name="Shape 43"/>
          <p:cNvSpPr/>
          <p:nvPr/>
        </p:nvSpPr>
        <p:spPr>
          <a:xfrm>
            <a:off x="4709160" y="3108960"/>
            <a:ext cx="54864" cy="169164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91840"/>
            <a:ext cx="365760" cy="36576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53949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</a:t>
            </a:r>
            <a:endParaRPr lang="en-US" sz="1400" dirty="0"/>
          </a:p>
        </p:txBody>
      </p:sp>
      <p:sp>
        <p:nvSpPr>
          <p:cNvPr id="51" name="Shape 45"/>
          <p:cNvSpPr/>
          <p:nvPr/>
        </p:nvSpPr>
        <p:spPr>
          <a:xfrm>
            <a:off x="7498080" y="3246120"/>
            <a:ext cx="914400" cy="274320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2" name="Text 46"/>
          <p:cNvSpPr/>
          <p:nvPr/>
        </p:nvSpPr>
        <p:spPr>
          <a:xfrm>
            <a:off x="749808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85%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539496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учащегося</a:t>
            </a:r>
            <a:endParaRPr lang="en-US" sz="1000" dirty="0">
              <a:solidFill>
                <a:srgbClr val="8B95A5"/>
              </a:solidFill>
            </a:endParaRPr>
          </a:p>
        </p:txBody>
      </p:sp>
      <p:sp>
        <p:nvSpPr>
          <p:cNvPr id="54" name="Text 48"/>
          <p:cNvSpPr/>
          <p:nvPr/>
        </p:nvSpPr>
        <p:spPr>
          <a:xfrm>
            <a:off x="699516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1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15 000 ₽</a:t>
            </a:r>
            <a:endParaRPr lang="en-US" sz="1000" dirty="0">
              <a:solidFill>
                <a:srgbClr val="E1E4EB"/>
              </a:solidFill>
            </a:endParaRPr>
          </a:p>
        </p:txBody>
      </p:sp>
      <p:sp>
        <p:nvSpPr>
          <p:cNvPr id="55" name="Text 49"/>
          <p:cNvSpPr/>
          <p:nvPr/>
        </p:nvSpPr>
        <p:spPr>
          <a:xfrm>
            <a:off x="539496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Охват за 3 года</a:t>
            </a:r>
            <a:endParaRPr lang="en-US" sz="1000" dirty="0"/>
          </a:p>
        </p:txBody>
      </p:sp>
      <p:sp>
        <p:nvSpPr>
          <p:cNvPr id="56" name="Text 50"/>
          <p:cNvSpPr/>
          <p:nvPr/>
        </p:nvSpPr>
        <p:spPr>
          <a:xfrm>
            <a:off x="6995160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 тыс. учащихся</a:t>
            </a:r>
            <a:endParaRPr lang="en-US" sz="1000" dirty="0"/>
          </a:p>
        </p:txBody>
      </p:sp>
      <p:sp>
        <p:nvSpPr>
          <p:cNvPr id="57" name="Text 51"/>
          <p:cNvSpPr/>
          <p:nvPr/>
        </p:nvSpPr>
        <p:spPr>
          <a:xfrm>
            <a:off x="539496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Территории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6995160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РФ + СНГ + BRICS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5394960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Единиц контента </a:t>
            </a:r>
            <a:endParaRPr lang="en-US" sz="1000" dirty="0">
              <a:solidFill>
                <a:srgbClr val="8B95A5"/>
              </a:solidFill>
            </a:endParaRPr>
          </a:p>
        </p:txBody>
      </p:sp>
      <p:sp>
        <p:nvSpPr>
          <p:cNvPr id="60" name="Text 54"/>
          <p:cNvSpPr/>
          <p:nvPr/>
        </p:nvSpPr>
        <p:spPr>
          <a:xfrm>
            <a:off x="699516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тыс. единиц контента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61" name="Shape 5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ИНВЕСТИЦИОННОЕ ПРЕДЛОЖЕНИЕ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Раунд 1.25 млрд ₽ → </a:t>
            </a:r>
            <a:r>
              <a:rPr lang="en-GB" sz="1300" i="1" dirty="0" err="1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r>
              <a:rPr lang="en-GB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млрд ₽ к 2028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33756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527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 сделки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184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0" y="16184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 млрд ₽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792224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Раунд A — стратегический инвестор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731520" y="1965960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731520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инвестора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0" y="2011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2185416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Контрольный пакет с Board seat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31520" y="2359152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731520" y="2404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 valuation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60320" y="24048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млрд ₽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2578608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+ сравнительный анализ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731520" y="2752344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/>
          <p:nvPr/>
        </p:nvSpPr>
        <p:spPr>
          <a:xfrm>
            <a:off x="731520" y="2798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оценка 2028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560320" y="27980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млрд ₽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2971800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 7× на EBITDA 3 млрд ₽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31520" y="3145536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/>
          <p:nvPr/>
        </p:nvSpPr>
        <p:spPr>
          <a:xfrm>
            <a:off x="731520" y="31912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Multiple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560320" y="31912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8.6x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36499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×8.6 за 3 года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731520" y="3538728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/>
          <p:nvPr/>
        </p:nvSpPr>
        <p:spPr>
          <a:xfrm>
            <a:off x="731520" y="3584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60320" y="3584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~105%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31520" y="3758184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Топ-квартиль медиа РФ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31520" y="3931920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9"/>
          <p:cNvSpPr/>
          <p:nvPr/>
        </p:nvSpPr>
        <p:spPr>
          <a:xfrm>
            <a:off x="731520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 2028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560320" y="3977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7.0x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31520" y="4151376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Медиана отрасли 6–9×</a:t>
            </a:r>
            <a:endParaRPr lang="en-US" sz="700" dirty="0"/>
          </a:p>
        </p:txBody>
      </p:sp>
      <p:graphicFrame>
        <p:nvGraphicFramePr>
          <p:cNvPr id="35" name="Chart 0"/>
          <p:cNvGraphicFramePr/>
          <p:nvPr>
            <p:extLst>
              <p:ext uri="{D42A27DB-BD31-4B8C-83A1-F6EECF244321}">
                <p14:modId xmlns:p14="http://schemas.microsoft.com/office/powerpoint/2010/main" val="1615552602"/>
              </p:ext>
            </p:extLst>
          </p:nvPr>
        </p:nvGraphicFramePr>
        <p:xfrm>
          <a:off x="4754880" y="114300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6" name="Text 32"/>
          <p:cNvSpPr/>
          <p:nvPr/>
        </p:nvSpPr>
        <p:spPr>
          <a:xfrm>
            <a:off x="4754880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Синергия для стратега:</a:t>
            </a:r>
            <a:endParaRPr lang="en-US" sz="110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114800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257800" y="40965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Эксклюзивный pipeline контента</a:t>
            </a:r>
            <a:endParaRPr lang="en-US" sz="100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480560"/>
            <a:ext cx="201168" cy="20116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257800" y="44622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b="1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</a:t>
            </a:r>
            <a:r>
              <a:rPr lang="ru-RU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+</a:t>
            </a: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b="1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аудитории</a:t>
            </a:r>
            <a:endParaRPr lang="en-US" sz="10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764024"/>
            <a:ext cx="201168" cy="20116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257800" y="47640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house без capex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КОМАНДА И MILESTONES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Команда, которая уже делает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88720" y="1207008"/>
            <a:ext cx="457200" cy="4572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9844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Продюсер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лет в кинопроизводстве, 8 полных метров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лет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46304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46304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фильмов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2560320" y="1097280"/>
            <a:ext cx="1920240" cy="155448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2560320" y="109728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91840" y="1207008"/>
            <a:ext cx="457200" cy="4572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29844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65176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CCO / Креатив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65176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мировых фестивальных рекорда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269748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8"/>
          <p:cNvSpPr/>
          <p:nvPr/>
        </p:nvSpPr>
        <p:spPr>
          <a:xfrm>
            <a:off x="269748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1300+ городов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356616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0"/>
          <p:cNvSpPr/>
          <p:nvPr/>
        </p:nvSpPr>
        <p:spPr>
          <a:xfrm>
            <a:off x="356616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 млн медиа-охват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4663440" y="1097280"/>
            <a:ext cx="1920240" cy="155448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22"/>
          <p:cNvSpPr/>
          <p:nvPr/>
        </p:nvSpPr>
        <p:spPr>
          <a:xfrm>
            <a:off x="4663440" y="109728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3"/>
          <p:cNvSpPr/>
          <p:nvPr/>
        </p:nvSpPr>
        <p:spPr>
          <a:xfrm>
            <a:off x="5394960" y="1207008"/>
            <a:ext cx="457200" cy="4572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98448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5488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Talent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75488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блогеров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480060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7"/>
          <p:cNvSpPr/>
          <p:nvPr/>
        </p:nvSpPr>
        <p:spPr>
          <a:xfrm>
            <a:off x="480060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блогеров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566928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29"/>
          <p:cNvSpPr/>
          <p:nvPr/>
        </p:nvSpPr>
        <p:spPr>
          <a:xfrm>
            <a:off x="566928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 млрд охват</a:t>
            </a:r>
            <a:endParaRPr lang="en-US" sz="700" dirty="0"/>
          </a:p>
        </p:txBody>
      </p:sp>
      <p:sp>
        <p:nvSpPr>
          <p:cNvPr id="35" name="Shape 30"/>
          <p:cNvSpPr/>
          <p:nvPr/>
        </p:nvSpPr>
        <p:spPr>
          <a:xfrm>
            <a:off x="6766560" y="1097280"/>
            <a:ext cx="1920240" cy="155448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6" name="Shape 31"/>
          <p:cNvSpPr/>
          <p:nvPr/>
        </p:nvSpPr>
        <p:spPr>
          <a:xfrm>
            <a:off x="6766560" y="109728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Shape 32"/>
          <p:cNvSpPr/>
          <p:nvPr/>
        </p:nvSpPr>
        <p:spPr>
          <a:xfrm>
            <a:off x="7498080" y="1207008"/>
            <a:ext cx="457200" cy="4572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298448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5800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685800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Ex-Big4, M&amp;A в медиа-секторе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690372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Text 36"/>
          <p:cNvSpPr/>
          <p:nvPr/>
        </p:nvSpPr>
        <p:spPr>
          <a:xfrm>
            <a:off x="690372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Big4</a:t>
            </a:r>
            <a:endParaRPr lang="en-US" sz="700" dirty="0"/>
          </a:p>
        </p:txBody>
      </p:sp>
      <p:sp>
        <p:nvSpPr>
          <p:cNvPr id="43" name="Shape 37"/>
          <p:cNvSpPr/>
          <p:nvPr/>
        </p:nvSpPr>
        <p:spPr>
          <a:xfrm>
            <a:off x="777240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38"/>
          <p:cNvSpPr/>
          <p:nvPr/>
        </p:nvSpPr>
        <p:spPr>
          <a:xfrm>
            <a:off x="777240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медиа</a:t>
            </a:r>
            <a:endParaRPr lang="en-US" sz="700" dirty="0"/>
          </a:p>
        </p:txBody>
      </p:sp>
      <p:sp>
        <p:nvSpPr>
          <p:cNvPr id="45" name="Text 39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731520" y="3383280"/>
            <a:ext cx="76809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Shape 41"/>
          <p:cNvSpPr/>
          <p:nvPr/>
        </p:nvSpPr>
        <p:spPr>
          <a:xfrm>
            <a:off x="1417320" y="32461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8" name="Text 42"/>
          <p:cNvSpPr/>
          <p:nvPr/>
        </p:nvSpPr>
        <p:spPr>
          <a:xfrm>
            <a:off x="109728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100584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</a:t>
            </a: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ru-RU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п/м и 1 сериала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91440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7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стриминговых платформ + кассовые сборы</a:t>
            </a:r>
            <a:endParaRPr lang="en-US" sz="700" dirty="0"/>
          </a:p>
        </p:txBody>
      </p:sp>
      <p:sp>
        <p:nvSpPr>
          <p:cNvPr id="51" name="Shape 45"/>
          <p:cNvSpPr/>
          <p:nvPr/>
        </p:nvSpPr>
        <p:spPr>
          <a:xfrm>
            <a:off x="3429000" y="32461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2" name="Text 46"/>
          <p:cNvSpPr/>
          <p:nvPr/>
        </p:nvSpPr>
        <p:spPr>
          <a:xfrm>
            <a:off x="310896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301752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900" dirty="0">
                <a:solidFill>
                  <a:srgbClr val="E0E4EB"/>
                </a:solidFill>
                <a:latin typeface="Arial" pitchFamily="34" charset="0"/>
                <a:cs typeface="Arial" pitchFamily="34" charset="-120"/>
              </a:rPr>
              <a:t>Breakeven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292608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EBITDA break-even </a:t>
            </a:r>
            <a:endParaRPr lang="en-US" sz="700" dirty="0"/>
          </a:p>
        </p:txBody>
      </p:sp>
      <p:sp>
        <p:nvSpPr>
          <p:cNvPr id="55" name="Shape 49"/>
          <p:cNvSpPr/>
          <p:nvPr/>
        </p:nvSpPr>
        <p:spPr>
          <a:xfrm>
            <a:off x="5440680" y="32461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6" name="Text 50"/>
          <p:cNvSpPr/>
          <p:nvPr/>
        </p:nvSpPr>
        <p:spPr>
          <a:xfrm>
            <a:off x="512064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100" dirty="0"/>
          </a:p>
        </p:txBody>
      </p:sp>
      <p:sp>
        <p:nvSpPr>
          <p:cNvPr id="57" name="Text 51"/>
          <p:cNvSpPr/>
          <p:nvPr/>
        </p:nvSpPr>
        <p:spPr>
          <a:xfrm>
            <a:off x="502920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Международный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deal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493776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700" i="1" dirty="0">
                <a:solidFill>
                  <a:srgbClr val="D4A843"/>
                </a:solidFill>
                <a:latin typeface="Arial" pitchFamily="34" charset="0"/>
                <a:cs typeface="Arial" pitchFamily="34" charset="-120"/>
              </a:rPr>
              <a:t>СНГ+</a:t>
            </a:r>
            <a:r>
              <a:rPr lang="en-US" sz="700" i="1" dirty="0">
                <a:solidFill>
                  <a:srgbClr val="D4A843"/>
                </a:solidFill>
                <a:latin typeface="Arial" pitchFamily="34" charset="0"/>
                <a:cs typeface="Arial" pitchFamily="34" charset="-120"/>
              </a:rPr>
              <a:t>BRICS</a:t>
            </a:r>
            <a:endParaRPr lang="en-US" sz="700" dirty="0"/>
          </a:p>
        </p:txBody>
      </p:sp>
      <p:sp>
        <p:nvSpPr>
          <p:cNvPr id="59" name="Shape 53"/>
          <p:cNvSpPr/>
          <p:nvPr/>
        </p:nvSpPr>
        <p:spPr>
          <a:xfrm>
            <a:off x="7452360" y="32461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0" name="Text 54"/>
          <p:cNvSpPr/>
          <p:nvPr/>
        </p:nvSpPr>
        <p:spPr>
          <a:xfrm>
            <a:off x="713232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2028</a:t>
            </a:r>
            <a:endParaRPr lang="en-US" sz="1100" dirty="0"/>
          </a:p>
        </p:txBody>
      </p:sp>
      <p:sp>
        <p:nvSpPr>
          <p:cNvPr id="61" name="Text 55"/>
          <p:cNvSpPr/>
          <p:nvPr/>
        </p:nvSpPr>
        <p:spPr>
          <a:xfrm>
            <a:off x="704088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3 млрд ₽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раунд</a:t>
            </a:r>
            <a:endParaRPr lang="en-US" sz="900" dirty="0"/>
          </a:p>
        </p:txBody>
      </p:sp>
      <p:sp>
        <p:nvSpPr>
          <p:cNvPr id="62" name="Text 56"/>
          <p:cNvSpPr/>
          <p:nvPr/>
        </p:nvSpPr>
        <p:spPr>
          <a:xfrm>
            <a:off x="694944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 / Series B</a:t>
            </a:r>
            <a:endParaRPr lang="en-US" sz="700" dirty="0"/>
          </a:p>
        </p:txBody>
      </p:sp>
      <p:sp>
        <p:nvSpPr>
          <p:cNvPr id="64" name="Text 58"/>
          <p:cNvSpPr/>
          <p:nvPr/>
        </p:nvSpPr>
        <p:spPr>
          <a:xfrm>
            <a:off x="2011680" y="4434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 обсудить партнёрство  →  info@kinoholding.ru</a:t>
            </a:r>
            <a:endParaRPr lang="en-US" sz="1400" dirty="0"/>
          </a:p>
        </p:txBody>
      </p:sp>
      <p:sp>
        <p:nvSpPr>
          <p:cNvPr id="65" name="Shape 5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536</Words>
  <Application>Microsoft Macintosh PowerPoint</Application>
  <PresentationFormat>Экран (16:9)</PresentationFormat>
  <Paragraphs>159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Arial Black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Инвестиционная презентация — Кинохолдинг</dc:title>
  <dc:subject>PptxGenJS Presentation</dc:subject>
  <dc:creator>Кинохолдинг</dc:creator>
  <cp:lastModifiedBy>a</cp:lastModifiedBy>
  <cp:revision>10</cp:revision>
  <dcterms:created xsi:type="dcterms:W3CDTF">2026-04-02T09:58:45Z</dcterms:created>
  <dcterms:modified xsi:type="dcterms:W3CDTF">2026-04-05T10:35:49Z</dcterms:modified>
</cp:coreProperties>
</file>