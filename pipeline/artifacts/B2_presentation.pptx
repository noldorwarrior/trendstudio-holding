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FFD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800000"/>
            <a:ext cx="97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Финансовая модель ТрендСтудио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600000"/>
            <a:ext cx="9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DD2D"/>
                </a:solidFill>
                <a:latin typeface="Calibri"/>
              </a:defRPr>
            </a:pPr>
            <a:r>
              <a:t>Сценарные результаты 2026–2028 | v1.4.3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5760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213E"/>
                </a:solidFill>
                <a:latin typeface="Calibri"/>
              </a:defRPr>
            </a:pPr>
            <a:r>
              <a:t>11.04.2026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44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DD2D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0" y="1800000"/>
            <a:ext cx="79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Результаты и методология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D2D"/>
                </a:solidFill>
                <a:latin typeface="Calibri"/>
              </a:defRPr>
            </a:pPr>
            <a:r>
              <a:t>Ключевые показатели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216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DD2D"/>
                </a:solidFill>
                <a:latin typeface="Calibri"/>
              </a:defRPr>
            </a:pPr>
            <a:r>
              <a:t>3 000 млн 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96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Базовый EBITDA 2026–2028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0" y="216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DD2D"/>
                </a:solidFill>
                <a:latin typeface="Calibri"/>
              </a:defRPr>
            </a:pPr>
            <a:r>
              <a:t>2 952 млн 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0" y="396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LHS+Copula 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0000" y="216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DD2D"/>
                </a:solidFill>
                <a:latin typeface="Calibri"/>
              </a:defRPr>
            </a:pPr>
            <a:r>
              <a:t>4,85%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0000" y="396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P(нарушения якоря)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60000" y="216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DD2D"/>
                </a:solidFill>
                <a:latin typeface="Calibri"/>
              </a:defRPr>
            </a:pPr>
            <a:r>
              <a:t>298 млн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0000" y="396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VaR95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D2D"/>
                </a:solidFill>
                <a:latin typeface="Calibri"/>
              </a:defRPr>
            </a:pPr>
            <a:r>
              <a:t>Методология (4 MC-движка)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2160000" cy="28800"/>
          </a:xfrm>
          <a:prstGeom prst="rect">
            <a:avLst/>
          </a:prstGeom>
          <a:solidFill>
            <a:srgbClr val="FFD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Naive MC Cholesky — базовая эталонная симуляция (n=2000)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Block Bootstrap — непараметрическая оценка рыночных факторов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Stage-Gate binomial tree — 12 фильмов, P(reach)=72,1%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LHS + Gaussian Copula — reference engine, variance reduction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Якорь-инвариант: cumulative EBITDA 2026–2028 ∈ [2970; 3030] млн 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D2D"/>
                </a:solidFill>
                <a:latin typeface="Calibri"/>
              </a:defRPr>
            </a:pPr>
            <a:r>
              <a:t>Сравнение MC-движков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2160000" cy="28800"/>
          </a:xfrm>
          <a:prstGeom prst="rect">
            <a:avLst/>
          </a:prstGeom>
          <a:solidFill>
            <a:srgbClr val="FFD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Naive MC:       mean 2 952  |  std 150  |  breach 5,55%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LHS+Copula:     mean 2 952  |  std 145  |  breach 4,85%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Block Bootstrap: mean 3 438  |  std 574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Stage-Gate:      mean 2 037  |  std 533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LHS+Copula выбран как эталон (наименьшая дисперсия оценок)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D2D"/>
                </a:solidFill>
                <a:latin typeface="Calibri"/>
              </a:defRPr>
            </a:pPr>
            <a:r>
              <a:t>Tornado — основные драйверы риска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2160000" cy="28800"/>
          </a:xfrm>
          <a:prstGeom prst="rect">
            <a:avLst/>
          </a:prstGeom>
          <a:solidFill>
            <a:srgbClr val="FFD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FX (0 → 20%): диапазон EBITDA ≈ 247 млн ₽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Inflation (0 → 20%): диапазон EBITDA ≈ 240 млн ₽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Delay (0 → 20%): диапазон EBITDA ≈ 180 млн ₽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Combo (FX+Infl+Delay): диапазон EBITDA ≈ 634 млн ₽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Самый широкий — комбинированный сценарий → приоритет митигации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D2D"/>
                </a:solidFill>
                <a:latin typeface="Calibri"/>
              </a:defRPr>
            </a:pPr>
            <a:r>
              <a:t>Stage-Gate воронка (12 фильмов)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216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DD2D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96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Development → Greenlight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0" y="216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DD2D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0" y="396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Greenlight →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0000" y="216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DD2D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0000" y="396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Production →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60000" y="216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DD2D"/>
                </a:solidFill>
                <a:latin typeface="Calibri"/>
              </a:defRPr>
            </a:pPr>
            <a:r>
              <a:t>72,1%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0000" y="396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Cumulative P(release)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D2D"/>
                </a:solidFill>
                <a:latin typeface="Calibri"/>
              </a:defRPr>
            </a:pPr>
            <a:r>
              <a:t>VaR и вероятность нарушения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40000"/>
            <a:ext cx="5220000" cy="28800"/>
          </a:xfrm>
          <a:prstGeom prst="rect">
            <a:avLst/>
          </a:prstGeom>
          <a:solidFill>
            <a:srgbClr val="FFD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548000"/>
            <a:ext cx="52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Naive 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340000"/>
            <a:ext cx="522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VaR95: 310 млн ₽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Breach: 5,55%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Severe: 0,05%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000" y="1440000"/>
            <a:ext cx="5220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000" y="1548000"/>
            <a:ext cx="52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LHS+Copula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2340000"/>
            <a:ext cx="522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VaR95: 298 млн ₽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VaR99: 405 млн ₽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Breach: 4,85%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D2D"/>
                </a:solidFill>
                <a:latin typeface="Calibri"/>
              </a:defRPr>
            </a:pPr>
            <a:r>
              <a:t>Ключевые риски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2160000" cy="28800"/>
          </a:xfrm>
          <a:prstGeom prst="rect">
            <a:avLst/>
          </a:prstGeom>
          <a:solidFill>
            <a:srgbClr val="FFD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Валютный риск — 35% OPEX валютно-чувствительные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Инфляция выше ориентира ЦБ РФ (6%) — давление на OPEX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Производственные задержки — сдвиг релизов, sunk cost до 830 млн ₽ (p95)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Зависимость от FP+K — концентрация доходов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Регуляторные изменения (СНГ + ЕАЭС рынки)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D2D"/>
                </a:solidFill>
                <a:latin typeface="Calibri"/>
              </a:defRPr>
            </a:pPr>
            <a:r>
              <a:t>Митигация и рекомендации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2160000" cy="28800"/>
          </a:xfrm>
          <a:prstGeom prst="rect">
            <a:avLst/>
          </a:prstGeom>
          <a:solidFill>
            <a:srgbClr val="FFD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FX-хеджирование через форварды/NDF на 50% валютной экспозиции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Stage-gate дисциплина: обязательная зелёная светофорная проверка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Резервный фонд 5% от бюджета проекта (≈250 млн ₽)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Диверсификация портфеля: минимум 8 релизов в окне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Квартальная ре-калибровка якоря по факту исполнения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D2D"/>
                </a:solidFill>
                <a:latin typeface="Calibri"/>
              </a:defRPr>
            </a:pPr>
            <a:r>
              <a:t>Road-map 2026–2028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2160000" cy="28800"/>
          </a:xfrm>
          <a:prstGeom prst="rect">
            <a:avLst/>
          </a:prstGeom>
          <a:solidFill>
            <a:srgbClr val="FFD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Q1 2026 — утверждение базового сценария и якоря Советом директоров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Q2 2026 — внедрение FX-хеджирования и stage-gate регламента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Q4 2026 — первая ре-калибровка модели по факту H1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2027 — расширение портфеля до 14 проектов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 2028 — ревью cumulative EBITDA и сверка с целью 3 000 млн 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FFD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97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960000"/>
            <a:ext cx="9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DD2D"/>
                </a:solidFill>
                <a:latin typeface="Calibri"/>
              </a:defRPr>
            </a:pPr>
            <a:r>
              <a:t>ТрендСтудио | v1.4.3 | 2026-04-11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