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95A5"/>
    <a:srgbClr val="E1E4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24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3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Film</c:v>
                </c:pt>
              </c:strCache>
            </c:strRef>
          </c:tx>
          <c:spPr>
            <a:solidFill>
              <a:srgbClr val="D4A843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258</c:v>
                </c:pt>
                <c:pt idx="2">
                  <c:v>557</c:v>
                </c:pt>
                <c:pt idx="3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24-4DA6-B939-5E9F1E596A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Advertising</c:v>
                </c:pt>
              </c:strCache>
            </c:strRef>
          </c:tx>
          <c:spPr>
            <a:solidFill>
              <a:srgbClr val="F5C563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90</c:v>
                </c:pt>
                <c:pt idx="1">
                  <c:v>194</c:v>
                </c:pt>
                <c:pt idx="2">
                  <c:v>418</c:v>
                </c:pt>
                <c:pt idx="3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924-4DA6-B939-5E9F1E596A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Festivals</c:v>
                </c:pt>
              </c:strCache>
            </c:strRef>
          </c:tx>
          <c:spPr>
            <a:solidFill>
              <a:srgbClr val="3498D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54</c:v>
                </c:pt>
                <c:pt idx="1">
                  <c:v>116</c:v>
                </c:pt>
                <c:pt idx="2">
                  <c:v>251</c:v>
                </c:pt>
                <c:pt idx="3">
                  <c:v>540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924-4DA6-B939-5E9F1E596A8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Education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36</c:v>
                </c:pt>
                <c:pt idx="1">
                  <c:v>78</c:v>
                </c:pt>
                <c:pt idx="2">
                  <c:v>167</c:v>
                </c:pt>
                <c:pt idx="3">
                  <c:v>360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924-4DA6-B939-5E9F1E596A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5A5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A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5A5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8B95A5"/>
              </a:solidFill>
            </a:defRPr>
          </a:pPr>
          <a:endParaRPr lang="ru-RU"/>
        </a:p>
      </c:txPr>
    </c:legend>
    <c:plotVisOnly val="1"/>
    <c:dispBlanksAs val="span"/>
    <c:showDLblsOverMax val="1"/>
  </c:chart>
  <c:spPr>
    <a:solidFill>
      <a:srgbClr val="0F1D3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D4A843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D4A843"/>
                </a:solidFill>
                <a:latin typeface="Arial"/>
              </a:rPr>
              <a:t>Use of Funds · $14.2M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4A8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0C1-4EE2-A012-89D28BEFDE0A}"/>
              </c:ext>
            </c:extLst>
          </c:dPt>
          <c:dPt>
            <c:idx val="1"/>
            <c:bubble3D val="0"/>
            <c:spPr>
              <a:solidFill>
                <a:srgbClr val="F5C5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0C1-4EE2-A012-89D28BEFDE0A}"/>
              </c:ext>
            </c:extLst>
          </c:dPt>
          <c:dPt>
            <c:idx val="2"/>
            <c:bubble3D val="0"/>
            <c:spPr>
              <a:solidFill>
                <a:srgbClr val="3498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0C1-4EE2-A012-89D28BEFDE0A}"/>
              </c:ext>
            </c:extLst>
          </c:dPt>
          <c:dPt>
            <c:idx val="3"/>
            <c:bubble3D val="0"/>
            <c:spPr>
              <a:solidFill>
                <a:srgbClr val="3498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0C1-4EE2-A012-89D28BEFDE0A}"/>
              </c:ext>
            </c:extLst>
          </c:dPt>
          <c:dPt>
            <c:idx val="4"/>
            <c:bubble3D val="0"/>
            <c:spPr>
              <a:solidFill>
                <a:srgbClr val="8B95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0C1-4EE2-A012-89D28BEFDE0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0C1-4EE2-A012-89D28BEFDE0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0C1-4EE2-A012-89D28BEFDE0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0C1-4EE2-A012-89D28BEFDE0A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0C1-4EE2-A012-89D28BEFDE0A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0C1-4EE2-A012-89D28BEFDE0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4"/>
                <c:pt idx="0">
                  <c:v>Film</c:v>
                </c:pt>
                <c:pt idx="1">
                  <c:v>Advertising</c:v>
                </c:pt>
                <c:pt idx="2">
                  <c:v>Festivals</c:v>
                </c:pt>
                <c:pt idx="3">
                  <c:v>Education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30</c:v>
                </c:pt>
                <c:pt idx="2">
                  <c:v>18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0C1-4EE2-A012-89D28BEFDE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overlay val="0"/>
      <c:txPr>
        <a:bodyPr/>
        <a:lstStyle/>
        <a:p>
          <a:pPr>
            <a:defRPr sz="800">
              <a:solidFill>
                <a:srgbClr val="8B95A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5223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72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chart" Target="../charts/chart2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3716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594804"/>
            <a:ext cx="9144000" cy="9139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800" dirty="0">
                <a:solidFill>
                  <a:srgbClr val="F5C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TREND STUDIO HOLDING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1508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 Content Factory: Film × Influencers × Brands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743200" y="2057400"/>
            <a:ext cx="3657600" cy="0"/>
          </a:xfrm>
          <a:prstGeom prst="line">
            <a:avLst/>
          </a:prstGeom>
          <a:noFill/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34340" y="2331720"/>
            <a:ext cx="1828800" cy="137160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34340" y="233172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4688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434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C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$3.4M+</a:t>
            </a:r>
            <a:r>
              <a:rPr lang="en-US" sz="2200" b="1" dirty="0">
                <a:solidFill>
                  <a:srgbClr val="F5C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/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3434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2025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583180" y="2331720"/>
            <a:ext cx="1828800" cy="137160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2583180" y="233172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246888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8318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C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115,44%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258318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CAGR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732020" y="2331720"/>
            <a:ext cx="1828800" cy="137160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4732020" y="233172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246888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73202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C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$34M </a:t>
            </a:r>
            <a:r>
              <a:rPr lang="en-US" sz="2200" b="1" dirty="0">
                <a:solidFill>
                  <a:srgbClr val="F5C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/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473202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2028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6880860" y="2331720"/>
            <a:ext cx="1828800" cy="137160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6880860" y="233172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2468880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88086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C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r>
              <a:rPr lang="en-US" sz="2200" b="1" dirty="0">
                <a:solidFill>
                  <a:srgbClr val="F5C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00</a:t>
            </a:r>
            <a:r>
              <a:rPr lang="en-US" sz="2200" b="1" dirty="0">
                <a:solidFill>
                  <a:srgbClr val="F5C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 </a:t>
            </a:r>
            <a:r>
              <a:rPr lang="en-US" sz="2200" b="1" dirty="0" err="1">
                <a:solidFill>
                  <a:srgbClr val="F5C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r>
              <a:rPr lang="en-US" sz="2200" b="1" dirty="0">
                <a:solidFill>
                  <a:srgbClr val="F5C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 +</a:t>
            </a:r>
            <a:endParaRPr lang="en-US" sz="2200" dirty="0"/>
          </a:p>
        </p:txBody>
      </p:sp>
      <p:sp>
        <p:nvSpPr>
          <p:cNvPr id="26" name="Text 19"/>
          <p:cNvSpPr/>
          <p:nvPr/>
        </p:nvSpPr>
        <p:spPr>
          <a:xfrm>
            <a:off x="688086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Verticals  ·  1 Ecosystem  ·  Ready-made Pipeline for a Strategic Partner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&amp; POSITIONING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Russian Content Market: $3.2B and a Window of Opportunity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657600" cy="320040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24328" y="144930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5A5"/>
                </a:solidFill>
              </a:rPr>
              <a:t>TAM</a:t>
            </a:r>
            <a:endParaRPr lang="en-US" sz="10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$3.2B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80160" y="2011680"/>
            <a:ext cx="2560320" cy="2194560"/>
          </a:xfrm>
          <a:prstGeom prst="ellipse">
            <a:avLst/>
          </a:prstGeom>
          <a:solidFill>
            <a:srgbClr val="1E3A5A"/>
          </a:solidFill>
          <a:ln w="12700">
            <a:solidFill>
              <a:srgbClr val="F5C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63040" y="2103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5A5"/>
                </a:solidFill>
              </a:rPr>
              <a:t>SAM</a:t>
            </a:r>
            <a:endParaRPr lang="en-US" sz="10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$980M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0" y="2743200"/>
            <a:ext cx="1554480" cy="1280160"/>
          </a:xfrm>
          <a:prstGeom prst="ellipse">
            <a:avLst/>
          </a:prstGeom>
          <a:solidFill>
            <a:srgbClr val="D4A843">
              <a:alpha val="80000"/>
            </a:srgbClr>
          </a:solidFill>
          <a:ln w="25400">
            <a:solidFill>
              <a:srgbClr val="F5C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20240" y="2880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52238"/>
                </a:solidFill>
              </a:rPr>
              <a:t>SOM 2028</a:t>
            </a:r>
            <a:endParaRPr lang="en-US" sz="9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$40M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1280160"/>
            <a:ext cx="3931920" cy="100584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46320" y="1280160"/>
            <a:ext cx="54864" cy="100584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417320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577840" y="13258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Window of Opportunity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8B95A5"/>
                </a:solidFill>
              </a:rPr>
              <a:t>Exit of Western majors → content deficit → surging demand for local production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406640" y="2011680"/>
            <a:ext cx="1280160" cy="201168"/>
          </a:xfrm>
          <a:prstGeom prst="rect">
            <a:avLst/>
          </a:prstGeom>
          <a:solidFill>
            <a:srgbClr val="D4A843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406640" y="2011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+52% </a:t>
            </a:r>
            <a:r>
              <a:rPr lang="en-US" sz="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content share</a:t>
            </a:r>
            <a:r>
              <a:rPr lang="en-US" sz="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/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846320" y="2423160"/>
            <a:ext cx="3931920" cy="100584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846320" y="2423160"/>
            <a:ext cx="54864" cy="1005840"/>
          </a:xfrm>
          <a:prstGeom prst="rect">
            <a:avLst/>
          </a:prstGeom>
          <a:solidFill>
            <a:srgbClr val="F5C56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560320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577840" y="24688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Cross-Platform Synergy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8B95A5"/>
                </a:solidFill>
              </a:rPr>
              <a:t xml:space="preserve">The only entity bridging film production with the </a:t>
            </a:r>
            <a:r>
              <a:rPr lang="en-US" sz="900" dirty="0" err="1">
                <a:solidFill>
                  <a:srgbClr val="8B95A5"/>
                </a:solidFill>
              </a:rPr>
              <a:t>influencer</a:t>
            </a:r>
            <a:r>
              <a:rPr lang="en-US" sz="900" dirty="0">
                <a:solidFill>
                  <a:srgbClr val="8B95A5"/>
                </a:solidFill>
              </a:rPr>
              <a:t xml:space="preserve"> economy, </a:t>
            </a:r>
            <a:r>
              <a:rPr lang="en-US" sz="900" dirty="0" err="1">
                <a:solidFill>
                  <a:srgbClr val="8B95A5"/>
                </a:solidFill>
              </a:rPr>
              <a:t>festivals</a:t>
            </a:r>
            <a:r>
              <a:rPr lang="en-US" sz="900" dirty="0">
                <a:solidFill>
                  <a:srgbClr val="8B95A5"/>
                </a:solidFill>
              </a:rPr>
              <a:t xml:space="preserve">, and online education 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406640" y="3154680"/>
            <a:ext cx="1280160" cy="201168"/>
          </a:xfrm>
          <a:prstGeom prst="rect">
            <a:avLst/>
          </a:prstGeom>
          <a:solidFill>
            <a:srgbClr val="F5C563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7406640" y="3154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4-in-1 Ecosystem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4846320" y="3566160"/>
            <a:ext cx="3931920" cy="100584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4846320" y="3566160"/>
            <a:ext cx="54864" cy="100584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3703320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577840" y="36118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Market Growth +12% CAGR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8B95A5"/>
                </a:solidFill>
              </a:rPr>
              <a:t>Streaming platforms are ramping up original content budgets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7406640" y="4297680"/>
            <a:ext cx="1280160" cy="201168"/>
          </a:xfrm>
          <a:prstGeom prst="rect">
            <a:avLst/>
          </a:prstGeom>
          <a:solidFill>
            <a:srgbClr val="2ECC71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7406640" y="4297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 +22% YoY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FINANCIAL HIGHLIGHTS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$3.4M to $34M in 3 Years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9728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97280"/>
            <a:ext cx="3108960" cy="320040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4360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Key Metrics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0" y="16002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2028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98080" y="16002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0" y="1856232"/>
            <a:ext cx="2560320" cy="36576"/>
          </a:xfrm>
          <a:prstGeom prst="rect">
            <a:avLst/>
          </a:prstGeom>
          <a:solidFill>
            <a:srgbClr val="1A2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943600" y="1856232"/>
            <a:ext cx="2432304" cy="36576"/>
          </a:xfrm>
          <a:prstGeom prst="rect">
            <a:avLst/>
          </a:prstGeom>
          <a:solidFill>
            <a:srgbClr val="F5C5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943600" y="1984248"/>
            <a:ext cx="2743200" cy="0"/>
          </a:xfrm>
          <a:prstGeom prst="line">
            <a:avLst/>
          </a:prstGeom>
          <a:noFill/>
          <a:ln w="635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43600" y="20299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2028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0" y="20299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$34M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43600" y="2286000"/>
            <a:ext cx="2560320" cy="36576"/>
          </a:xfrm>
          <a:prstGeom prst="rect">
            <a:avLst/>
          </a:prstGeom>
          <a:solidFill>
            <a:srgbClr val="1A2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943600" y="2286000"/>
            <a:ext cx="1792224" cy="36576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943600" y="2414016"/>
            <a:ext cx="2743200" cy="0"/>
          </a:xfrm>
          <a:prstGeom prst="line">
            <a:avLst/>
          </a:prstGeom>
          <a:noFill/>
          <a:ln w="635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943600" y="245973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margin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498080" y="24597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943600" y="2715768"/>
            <a:ext cx="2560320" cy="36576"/>
          </a:xfrm>
          <a:prstGeom prst="rect">
            <a:avLst/>
          </a:prstGeom>
          <a:solidFill>
            <a:srgbClr val="1A2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943600" y="2715768"/>
            <a:ext cx="1536192" cy="36576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943600" y="2843784"/>
            <a:ext cx="2743200" cy="0"/>
          </a:xfrm>
          <a:prstGeom prst="line">
            <a:avLst/>
          </a:prstGeom>
          <a:noFill/>
          <a:ln w="635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943600" y="288950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Profit 2028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498080" y="288950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$23M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943600" y="3145536"/>
            <a:ext cx="2560320" cy="36576"/>
          </a:xfrm>
          <a:prstGeom prst="rect">
            <a:avLst/>
          </a:prstGeom>
          <a:solidFill>
            <a:srgbClr val="1A2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943600" y="3145536"/>
            <a:ext cx="1408176" cy="36576"/>
          </a:xfrm>
          <a:prstGeom prst="rect">
            <a:avLst/>
          </a:prstGeom>
          <a:solidFill>
            <a:srgbClr val="F5C5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943600" y="3273552"/>
            <a:ext cx="2743200" cy="0"/>
          </a:xfrm>
          <a:prstGeom prst="line">
            <a:avLst/>
          </a:prstGeom>
          <a:noFill/>
          <a:ln w="635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943600" y="33192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CAGR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498080" y="33192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115%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943600" y="3575304"/>
            <a:ext cx="2560320" cy="36576"/>
          </a:xfrm>
          <a:prstGeom prst="rect">
            <a:avLst/>
          </a:prstGeom>
          <a:solidFill>
            <a:srgbClr val="1A2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5943600" y="3575304"/>
            <a:ext cx="2176272" cy="36576"/>
          </a:xfrm>
          <a:prstGeom prst="rect">
            <a:avLst/>
          </a:prstGeom>
          <a:solidFill>
            <a:srgbClr val="F5C5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5943600" y="3703320"/>
            <a:ext cx="2743200" cy="0"/>
          </a:xfrm>
          <a:prstGeom prst="line">
            <a:avLst/>
          </a:prstGeom>
          <a:noFill/>
          <a:ln w="635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943600" y="3749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Breakeven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498080" y="3749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943600" y="4005072"/>
            <a:ext cx="2560320" cy="36576"/>
          </a:xfrm>
          <a:prstGeom prst="rect">
            <a:avLst/>
          </a:prstGeom>
          <a:solidFill>
            <a:srgbClr val="1A2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5943600" y="4005072"/>
            <a:ext cx="1152144" cy="36576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Mix 2028: Film 40% · Advertising 30% · Festivals 18% · Education 12%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VERTICAL ECONOMICS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 &amp; Key Drivers of Each Business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3840480" cy="169164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54864" cy="169164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258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83280" y="1280160"/>
            <a:ext cx="914400" cy="274320"/>
          </a:xfrm>
          <a:prstGeom prst="rect">
            <a:avLst/>
          </a:prstGeom>
          <a:solidFill>
            <a:srgbClr val="D4A843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383280" y="1280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89%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280160" y="1691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Budget</a:t>
            </a: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1000" dirty="0" err="1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000" dirty="0" err="1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880360" y="1691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$21M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280160" y="1947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Revenue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880360" y="19476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$40M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280160" y="2203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ROI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880360" y="22037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280160" y="2459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3-Year Pipeline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880360" y="24597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1000" dirty="0" err="1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</a:t>
            </a: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1000" dirty="0" err="1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</a:t>
            </a: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09160" y="1143000"/>
            <a:ext cx="3840480" cy="169164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709160" y="1143000"/>
            <a:ext cx="54864" cy="1691640"/>
          </a:xfrm>
          <a:prstGeom prst="rect">
            <a:avLst/>
          </a:prstGeom>
          <a:solidFill>
            <a:srgbClr val="F5C56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39496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Advertising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498080" y="1280160"/>
            <a:ext cx="914400" cy="274320"/>
          </a:xfrm>
          <a:prstGeom prst="rect">
            <a:avLst/>
          </a:prstGeom>
          <a:solidFill>
            <a:srgbClr val="F5C563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7498080" y="1280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COM </a:t>
            </a:r>
            <a:r>
              <a:rPr lang="en-US" sz="9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r>
              <a:rPr lang="en-US" sz="9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5394960" y="1691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cs typeface="Arial" pitchFamily="34" charset="-120"/>
              </a:rPr>
              <a:t>Product Placement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995160" y="1691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E4EB"/>
                </a:solidFill>
                <a:latin typeface="Arial" pitchFamily="34" charset="0"/>
                <a:cs typeface="Arial" pitchFamily="34" charset="-120"/>
              </a:rPr>
              <a:t>$5.7M+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5394960" y="1947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6995160" y="19476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r>
              <a:rPr lang="en-US" sz="10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5394960" y="2203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ARPU per Brand</a:t>
            </a:r>
            <a:endParaRPr lang="en-US" sz="1000" dirty="0">
              <a:solidFill>
                <a:srgbClr val="8B95A5"/>
              </a:solidFill>
            </a:endParaRPr>
          </a:p>
        </p:txBody>
      </p:sp>
      <p:sp>
        <p:nvSpPr>
          <p:cNvPr id="30" name="Text 26"/>
          <p:cNvSpPr/>
          <p:nvPr/>
        </p:nvSpPr>
        <p:spPr>
          <a:xfrm>
            <a:off x="6995160" y="22037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$511K/yr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5394960" y="2459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6995160" y="24597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brands annually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594360" y="3108960"/>
            <a:ext cx="3840480" cy="169164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594360" y="3108960"/>
            <a:ext cx="54864" cy="169164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291840"/>
            <a:ext cx="365760" cy="36576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128016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Festivals</a:t>
            </a:r>
            <a:endParaRPr lang="en-US" sz="1400" dirty="0"/>
          </a:p>
        </p:txBody>
      </p:sp>
      <p:sp>
        <p:nvSpPr>
          <p:cNvPr id="37" name="Shape 32"/>
          <p:cNvSpPr/>
          <p:nvPr/>
        </p:nvSpPr>
        <p:spPr>
          <a:xfrm>
            <a:off x="3383280" y="3246120"/>
            <a:ext cx="914400" cy="274320"/>
          </a:xfrm>
          <a:prstGeom prst="rect">
            <a:avLst/>
          </a:prstGeom>
          <a:solidFill>
            <a:srgbClr val="3498D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338328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 92</a:t>
            </a:r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39" name="Text 34"/>
          <p:cNvSpPr/>
          <p:nvPr/>
        </p:nvSpPr>
        <p:spPr>
          <a:xfrm>
            <a:off x="1280160" y="3657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cs typeface="Arial" pitchFamily="34" charset="-120"/>
              </a:rPr>
              <a:t>3-Year Attendance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2880360" y="3657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1M+ attendees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1280160" y="3913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cs typeface="Arial" pitchFamily="34" charset="-120"/>
              </a:rPr>
              <a:t>City Coverage</a:t>
            </a:r>
            <a:endParaRPr lang="en-US" sz="1000" dirty="0">
              <a:solidFill>
                <a:srgbClr val="8B95A5"/>
              </a:solidFill>
            </a:endParaRPr>
          </a:p>
        </p:txBody>
      </p:sp>
      <p:sp>
        <p:nvSpPr>
          <p:cNvPr id="42" name="Text 37"/>
          <p:cNvSpPr/>
          <p:nvPr/>
        </p:nvSpPr>
        <p:spPr>
          <a:xfrm>
            <a:off x="2880360" y="39136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3" name="Text 38"/>
          <p:cNvSpPr/>
          <p:nvPr/>
        </p:nvSpPr>
        <p:spPr>
          <a:xfrm>
            <a:off x="1280160" y="4169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Reach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2880360" y="41696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50M+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1280160" y="44256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3-Year Pipeline</a:t>
            </a:r>
            <a:endParaRPr lang="en-US" sz="1000" dirty="0"/>
          </a:p>
        </p:txBody>
      </p:sp>
      <p:sp>
        <p:nvSpPr>
          <p:cNvPr id="46" name="Text 41"/>
          <p:cNvSpPr/>
          <p:nvPr/>
        </p:nvSpPr>
        <p:spPr>
          <a:xfrm>
            <a:off x="2880360" y="44256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6 </a:t>
            </a: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festivals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4709160" y="3108960"/>
            <a:ext cx="3840480" cy="169164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3"/>
          <p:cNvSpPr/>
          <p:nvPr/>
        </p:nvSpPr>
        <p:spPr>
          <a:xfrm>
            <a:off x="4709160" y="3108960"/>
            <a:ext cx="54864" cy="169164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291840"/>
            <a:ext cx="365760" cy="365760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539496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1400" dirty="0"/>
          </a:p>
        </p:txBody>
      </p:sp>
      <p:sp>
        <p:nvSpPr>
          <p:cNvPr id="51" name="Shape 45"/>
          <p:cNvSpPr/>
          <p:nvPr/>
        </p:nvSpPr>
        <p:spPr>
          <a:xfrm>
            <a:off x="7498080" y="3246120"/>
            <a:ext cx="914400" cy="274320"/>
          </a:xfrm>
          <a:prstGeom prst="rect">
            <a:avLst/>
          </a:prstGeom>
          <a:solidFill>
            <a:srgbClr val="2ECC71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6"/>
          <p:cNvSpPr/>
          <p:nvPr/>
        </p:nvSpPr>
        <p:spPr>
          <a:xfrm>
            <a:off x="749808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85%</a:t>
            </a:r>
            <a:endParaRPr lang="en-US" sz="900" dirty="0"/>
          </a:p>
        </p:txBody>
      </p:sp>
      <p:sp>
        <p:nvSpPr>
          <p:cNvPr id="53" name="Text 47"/>
          <p:cNvSpPr/>
          <p:nvPr/>
        </p:nvSpPr>
        <p:spPr>
          <a:xfrm>
            <a:off x="5394960" y="3657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LTV</a:t>
            </a: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1000" dirty="0" err="1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>
              <a:solidFill>
                <a:srgbClr val="8B95A5"/>
              </a:solidFill>
            </a:endParaRPr>
          </a:p>
        </p:txBody>
      </p:sp>
      <p:sp>
        <p:nvSpPr>
          <p:cNvPr id="54" name="Text 48"/>
          <p:cNvSpPr/>
          <p:nvPr/>
        </p:nvSpPr>
        <p:spPr>
          <a:xfrm>
            <a:off x="6995160" y="3657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1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$170</a:t>
            </a:r>
            <a:endParaRPr lang="en-US" sz="1000" dirty="0">
              <a:solidFill>
                <a:srgbClr val="E1E4EB"/>
              </a:solidFill>
            </a:endParaRPr>
          </a:p>
        </p:txBody>
      </p:sp>
      <p:sp>
        <p:nvSpPr>
          <p:cNvPr id="55" name="Text 49"/>
          <p:cNvSpPr/>
          <p:nvPr/>
        </p:nvSpPr>
        <p:spPr>
          <a:xfrm>
            <a:off x="5394960" y="3913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3-Year Reach</a:t>
            </a:r>
            <a:endParaRPr lang="en-US" sz="1000" dirty="0"/>
          </a:p>
        </p:txBody>
      </p:sp>
      <p:sp>
        <p:nvSpPr>
          <p:cNvPr id="56" name="Text 50"/>
          <p:cNvSpPr/>
          <p:nvPr/>
        </p:nvSpPr>
        <p:spPr>
          <a:xfrm>
            <a:off x="6995160" y="39136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70K+ students</a:t>
            </a:r>
            <a:endParaRPr lang="en-US" sz="1000" dirty="0"/>
          </a:p>
        </p:txBody>
      </p:sp>
      <p:sp>
        <p:nvSpPr>
          <p:cNvPr id="57" name="Text 51"/>
          <p:cNvSpPr/>
          <p:nvPr/>
        </p:nvSpPr>
        <p:spPr>
          <a:xfrm>
            <a:off x="5394960" y="4169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Territories</a:t>
            </a:r>
            <a:endParaRPr lang="en-US" sz="1000" dirty="0"/>
          </a:p>
        </p:txBody>
      </p:sp>
      <p:sp>
        <p:nvSpPr>
          <p:cNvPr id="58" name="Text 52"/>
          <p:cNvSpPr/>
          <p:nvPr/>
        </p:nvSpPr>
        <p:spPr>
          <a:xfrm>
            <a:off x="6995160" y="41696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Russia + CIS + BRICS</a:t>
            </a:r>
            <a:endParaRPr lang="en-US" sz="1000" dirty="0"/>
          </a:p>
        </p:txBody>
      </p:sp>
      <p:sp>
        <p:nvSpPr>
          <p:cNvPr id="59" name="Text 53"/>
          <p:cNvSpPr/>
          <p:nvPr/>
        </p:nvSpPr>
        <p:spPr>
          <a:xfrm>
            <a:off x="5394960" y="44256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Content Units</a:t>
            </a:r>
            <a:endParaRPr lang="en-US" sz="1000" dirty="0">
              <a:solidFill>
                <a:srgbClr val="8B95A5"/>
              </a:solidFill>
            </a:endParaRPr>
          </a:p>
        </p:txBody>
      </p:sp>
      <p:sp>
        <p:nvSpPr>
          <p:cNvPr id="60" name="Text 54"/>
          <p:cNvSpPr/>
          <p:nvPr/>
        </p:nvSpPr>
        <p:spPr>
          <a:xfrm>
            <a:off x="6995160" y="44256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8K+ content units</a:t>
            </a:r>
            <a:endParaRPr lang="en-US" sz="1000" dirty="0">
              <a:solidFill>
                <a:schemeClr val="bg2"/>
              </a:solidFill>
            </a:endParaRPr>
          </a:p>
        </p:txBody>
      </p:sp>
      <p:sp>
        <p:nvSpPr>
          <p:cNvPr id="61" name="Shape 5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3="http://schemas.microsoft.com/office/powerpoint/2010/main" xmlns:ns4="http://schemas.openxmlformats.org/drawingml/2006/chart" xmlns:p="http://schemas.openxmlformats.org/presentationml/2006/main" xmlns:r="http://schemas.openxmlformats.org/officeDocument/2006/relationships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INVESTMENT PROPOSITION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Round $14.2M → </a:t>
            </a:r>
            <a:r>
              <a:rPr lang="en-US" sz="13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$34M by 2028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333756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5272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234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Terms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16184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560320" y="161848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$14.2M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1792224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A — Strategic Investor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731520" y="1965960"/>
            <a:ext cx="3383280" cy="0"/>
          </a:xfrm>
          <a:prstGeom prst="line">
            <a:avLst/>
          </a:prstGeom>
          <a:noFill/>
          <a:ln w="635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31520" y="20116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Stake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560320" y="20116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2185416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Controlling interest with Board seat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31520" y="2359152"/>
            <a:ext cx="3383280" cy="0"/>
          </a:xfrm>
          <a:prstGeom prst="line">
            <a:avLst/>
          </a:prstGeom>
          <a:noFill/>
          <a:ln w="635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31520" y="24048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Pre-money valuation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560320" y="24048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$13.6M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1520" y="2578608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 + Comparable Analysis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731520" y="2752344"/>
            <a:ext cx="3383280" cy="0"/>
          </a:xfrm>
          <a:prstGeom prst="line">
            <a:avLst/>
          </a:prstGeom>
          <a:noFill/>
          <a:ln w="635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31520" y="27980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Valuation 2028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560320" y="279806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$239M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31520" y="2971800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EV/EBITDA 7× on EBITDA $34M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31520" y="3145536"/>
            <a:ext cx="3383280" cy="0"/>
          </a:xfrm>
          <a:prstGeom prst="line">
            <a:avLst/>
          </a:prstGeom>
          <a:noFill/>
          <a:ln w="635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31520" y="31912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Multiple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560320" y="319125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8.6x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364992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8.6× return in 3 years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731520" y="3538728"/>
            <a:ext cx="3383280" cy="0"/>
          </a:xfrm>
          <a:prstGeom prst="line">
            <a:avLst/>
          </a:prstGeom>
          <a:noFill/>
          <a:ln w="635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31520" y="35844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560320" y="35844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~105%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31520" y="3758184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quartile, Russian media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731520" y="3931920"/>
            <a:ext cx="3383280" cy="0"/>
          </a:xfrm>
          <a:prstGeom prst="line">
            <a:avLst/>
          </a:prstGeom>
          <a:noFill/>
          <a:ln w="635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731520" y="3977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EV/EBITDA 2028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2560320" y="39776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7.0x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31520" y="4151376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median 6–9×</a:t>
            </a:r>
            <a:endParaRPr lang="en-US" sz="700" dirty="0"/>
          </a:p>
        </p:txBody>
      </p:sp>
      <p:graphicFrame>
        <p:nvGraphicFramePr>
          <p:cNvPr id="35" name="Chart 0"/>
          <p:cNvGraphicFramePr/>
          <p:nvPr>
            <p:extLst>
              <p:ext uri="{D42A27DB-BD31-4B8C-83A1-F6EECF244321}">
                <ns3:modId val="1615552602"/>
              </p:ext>
            </p:extLst>
          </p:nvPr>
        </p:nvGraphicFramePr>
        <p:xfrm>
          <a:off x="4754880" y="1143000"/>
          <a:ext cx="4114800" cy="2560320"/>
        </p:xfrm>
        <a:graphic>
          <a:graphicData uri="http://schemas.openxmlformats.org/drawingml/2006/chart">
            <ns4:chart r:id="rId4"/>
          </a:graphicData>
        </a:graphic>
      </p:graphicFrame>
      <p:sp>
        <p:nvSpPr>
          <p:cNvPr id="36" name="Text 32"/>
          <p:cNvSpPr/>
          <p:nvPr/>
        </p:nvSpPr>
        <p:spPr>
          <a:xfrm>
            <a:off x="4754880" y="3794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Synergies for a Strategic Partner:</a:t>
            </a:r>
            <a:endParaRPr lang="en-US" sz="1100" dirty="0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114800"/>
            <a:ext cx="201168" cy="20116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257800" y="40965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Exclusive content pipeline</a:t>
            </a:r>
            <a:endParaRPr lang="en-US" sz="1000" dirty="0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4480560"/>
            <a:ext cx="201168" cy="201168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5257800" y="44622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r>
              <a:rPr lang="en-US" sz="1000" b="1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1000" b="1" dirty="0" err="1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r>
              <a:rPr lang="en-US" sz="1000" b="1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+</a:t>
            </a:r>
            <a:r>
              <a:rPr lang="en-US" sz="1000" b="1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1000" b="1" dirty="0" err="1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1000" dirty="0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4764024"/>
            <a:ext cx="201168" cy="201168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5257800" y="476402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house with zero capex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&amp; MILESTONES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 That Delivers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20240" cy="155448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92024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8720" y="1207008"/>
            <a:ext cx="457200" cy="45720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29844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/ Producer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19385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years in film production, 8 feature films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94360" y="2331720"/>
            <a:ext cx="777240" cy="201168"/>
          </a:xfrm>
          <a:prstGeom prst="rect">
            <a:avLst/>
          </a:prstGeom>
          <a:solidFill>
            <a:srgbClr val="D4A843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94360" y="23317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yrs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1463040" y="2331720"/>
            <a:ext cx="777240" cy="201168"/>
          </a:xfrm>
          <a:prstGeom prst="rect">
            <a:avLst/>
          </a:prstGeom>
          <a:solidFill>
            <a:srgbClr val="D4A843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463040" y="23317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films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2560320" y="1097280"/>
            <a:ext cx="1920240" cy="155448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560320" y="1097280"/>
            <a:ext cx="192024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291840" y="1207008"/>
            <a:ext cx="457200" cy="45720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298448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651760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CCO / Creative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2651760" y="19385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world festival records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2697480" y="2331720"/>
            <a:ext cx="777240" cy="201168"/>
          </a:xfrm>
          <a:prstGeom prst="rect">
            <a:avLst/>
          </a:prstGeom>
          <a:solidFill>
            <a:srgbClr val="D4A843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2697480" y="23317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1,300+ cities</a:t>
            </a:r>
            <a:endParaRPr lang="en-US" sz="700" dirty="0"/>
          </a:p>
        </p:txBody>
      </p:sp>
      <p:sp>
        <p:nvSpPr>
          <p:cNvPr id="23" name="Shape 19"/>
          <p:cNvSpPr/>
          <p:nvPr/>
        </p:nvSpPr>
        <p:spPr>
          <a:xfrm>
            <a:off x="3566160" y="2331720"/>
            <a:ext cx="777240" cy="201168"/>
          </a:xfrm>
          <a:prstGeom prst="rect">
            <a:avLst/>
          </a:prstGeom>
          <a:solidFill>
            <a:srgbClr val="D4A843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3566160" y="23317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230M media reach</a:t>
            </a:r>
            <a:endParaRPr lang="en-US" sz="700" dirty="0"/>
          </a:p>
        </p:txBody>
      </p:sp>
      <p:sp>
        <p:nvSpPr>
          <p:cNvPr id="25" name="Shape 21"/>
          <p:cNvSpPr/>
          <p:nvPr/>
        </p:nvSpPr>
        <p:spPr>
          <a:xfrm>
            <a:off x="4663440" y="1097280"/>
            <a:ext cx="1920240" cy="155448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4663440" y="1097280"/>
            <a:ext cx="192024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5394960" y="1207008"/>
            <a:ext cx="457200" cy="45720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98448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754880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Talent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4754880" y="19385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150+ influencers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4800600" y="2331720"/>
            <a:ext cx="777240" cy="201168"/>
          </a:xfrm>
          <a:prstGeom prst="rect">
            <a:avLst/>
          </a:prstGeom>
          <a:solidFill>
            <a:srgbClr val="D4A843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4800600" y="23317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150+ influencers</a:t>
            </a:r>
            <a:endParaRPr lang="en-US" sz="700" dirty="0"/>
          </a:p>
        </p:txBody>
      </p:sp>
      <p:sp>
        <p:nvSpPr>
          <p:cNvPr id="33" name="Shape 28"/>
          <p:cNvSpPr/>
          <p:nvPr/>
        </p:nvSpPr>
        <p:spPr>
          <a:xfrm>
            <a:off x="5669280" y="2331720"/>
            <a:ext cx="777240" cy="201168"/>
          </a:xfrm>
          <a:prstGeom prst="rect">
            <a:avLst/>
          </a:prstGeom>
          <a:solidFill>
            <a:srgbClr val="D4A843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5669280" y="23317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1B+ reach</a:t>
            </a:r>
            <a:endParaRPr lang="en-US" sz="700" dirty="0"/>
          </a:p>
        </p:txBody>
      </p:sp>
      <p:sp>
        <p:nvSpPr>
          <p:cNvPr id="35" name="Shape 30"/>
          <p:cNvSpPr/>
          <p:nvPr/>
        </p:nvSpPr>
        <p:spPr>
          <a:xfrm>
            <a:off x="6766560" y="1097280"/>
            <a:ext cx="1920240" cy="155448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1"/>
          <p:cNvSpPr/>
          <p:nvPr/>
        </p:nvSpPr>
        <p:spPr>
          <a:xfrm>
            <a:off x="6766560" y="1097280"/>
            <a:ext cx="192024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2"/>
          <p:cNvSpPr/>
          <p:nvPr/>
        </p:nvSpPr>
        <p:spPr>
          <a:xfrm>
            <a:off x="7498080" y="1207008"/>
            <a:ext cx="457200" cy="45720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298448"/>
            <a:ext cx="274320" cy="27432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858000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6858000" y="19385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Ex-Big4, M&amp;A in media</a:t>
            </a:r>
            <a:endParaRPr lang="en-US" sz="800" dirty="0"/>
          </a:p>
        </p:txBody>
      </p:sp>
      <p:sp>
        <p:nvSpPr>
          <p:cNvPr id="41" name="Shape 35"/>
          <p:cNvSpPr/>
          <p:nvPr/>
        </p:nvSpPr>
        <p:spPr>
          <a:xfrm>
            <a:off x="6903720" y="2331720"/>
            <a:ext cx="777240" cy="201168"/>
          </a:xfrm>
          <a:prstGeom prst="rect">
            <a:avLst/>
          </a:prstGeom>
          <a:solidFill>
            <a:srgbClr val="D4A843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/>
          <p:nvPr/>
        </p:nvSpPr>
        <p:spPr>
          <a:xfrm>
            <a:off x="6903720" y="23317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Big4</a:t>
            </a:r>
            <a:endParaRPr lang="en-US" sz="700" dirty="0"/>
          </a:p>
        </p:txBody>
      </p:sp>
      <p:sp>
        <p:nvSpPr>
          <p:cNvPr id="43" name="Shape 37"/>
          <p:cNvSpPr/>
          <p:nvPr/>
        </p:nvSpPr>
        <p:spPr>
          <a:xfrm>
            <a:off x="7772400" y="2331720"/>
            <a:ext cx="777240" cy="201168"/>
          </a:xfrm>
          <a:prstGeom prst="rect">
            <a:avLst/>
          </a:prstGeom>
          <a:solidFill>
            <a:srgbClr val="D4A843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8"/>
          <p:cNvSpPr/>
          <p:nvPr/>
        </p:nvSpPr>
        <p:spPr>
          <a:xfrm>
            <a:off x="7772400" y="23317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M&amp;A media</a:t>
            </a:r>
            <a:endParaRPr lang="en-US" sz="700" dirty="0"/>
          </a:p>
        </p:txBody>
      </p:sp>
      <p:sp>
        <p:nvSpPr>
          <p:cNvPr id="45" name="Text 39"/>
          <p:cNvSpPr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300" dirty="0"/>
          </a:p>
        </p:txBody>
      </p:sp>
      <p:sp>
        <p:nvSpPr>
          <p:cNvPr id="46" name="Shape 40"/>
          <p:cNvSpPr/>
          <p:nvPr/>
        </p:nvSpPr>
        <p:spPr>
          <a:xfrm>
            <a:off x="731520" y="3383280"/>
            <a:ext cx="768096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1"/>
          <p:cNvSpPr/>
          <p:nvPr/>
        </p:nvSpPr>
        <p:spPr>
          <a:xfrm>
            <a:off x="1417320" y="3246120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2"/>
          <p:cNvSpPr/>
          <p:nvPr/>
        </p:nvSpPr>
        <p:spPr>
          <a:xfrm>
            <a:off x="1097280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100" dirty="0"/>
          </a:p>
        </p:txBody>
      </p:sp>
      <p:sp>
        <p:nvSpPr>
          <p:cNvPr id="49" name="Text 43"/>
          <p:cNvSpPr/>
          <p:nvPr/>
        </p:nvSpPr>
        <p:spPr>
          <a:xfrm>
            <a:off x="1005840" y="35661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r>
              <a:rPr lang="en-US" sz="9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9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features &amp; 1 series</a:t>
            </a:r>
            <a:endParaRPr lang="en-US" sz="900" dirty="0"/>
          </a:p>
        </p:txBody>
      </p:sp>
      <p:sp>
        <p:nvSpPr>
          <p:cNvPr id="50" name="Text 44"/>
          <p:cNvSpPr/>
          <p:nvPr/>
        </p:nvSpPr>
        <p:spPr>
          <a:xfrm>
            <a:off x="914400" y="3977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streaming platforms + box office</a:t>
            </a:r>
            <a:endParaRPr lang="en-US" sz="700" dirty="0"/>
          </a:p>
        </p:txBody>
      </p:sp>
      <p:sp>
        <p:nvSpPr>
          <p:cNvPr id="51" name="Shape 45"/>
          <p:cNvSpPr/>
          <p:nvPr/>
        </p:nvSpPr>
        <p:spPr>
          <a:xfrm>
            <a:off x="3429000" y="3246120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6"/>
          <p:cNvSpPr/>
          <p:nvPr/>
        </p:nvSpPr>
        <p:spPr>
          <a:xfrm>
            <a:off x="3108960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100" dirty="0"/>
          </a:p>
        </p:txBody>
      </p:sp>
      <p:sp>
        <p:nvSpPr>
          <p:cNvPr id="53" name="Text 47"/>
          <p:cNvSpPr/>
          <p:nvPr/>
        </p:nvSpPr>
        <p:spPr>
          <a:xfrm>
            <a:off x="3017520" y="35661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GB" sz="900" dirty="0">
                <a:solidFill>
                  <a:srgbClr val="E0E4EB"/>
                </a:solidFill>
                <a:latin typeface="Arial" pitchFamily="34" charset="0"/>
                <a:cs typeface="Arial" pitchFamily="34" charset="-120"/>
              </a:rPr>
              <a:t>Breakeven</a:t>
            </a:r>
            <a:endParaRPr lang="en-US" sz="900" dirty="0"/>
          </a:p>
        </p:txBody>
      </p:sp>
      <p:sp>
        <p:nvSpPr>
          <p:cNvPr id="54" name="Text 48"/>
          <p:cNvSpPr/>
          <p:nvPr/>
        </p:nvSpPr>
        <p:spPr>
          <a:xfrm>
            <a:off x="2926080" y="3977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EBITDA break-even </a:t>
            </a:r>
            <a:endParaRPr lang="en-US" sz="700" dirty="0"/>
          </a:p>
        </p:txBody>
      </p:sp>
      <p:sp>
        <p:nvSpPr>
          <p:cNvPr id="55" name="Shape 49"/>
          <p:cNvSpPr/>
          <p:nvPr/>
        </p:nvSpPr>
        <p:spPr>
          <a:xfrm>
            <a:off x="5440680" y="3246120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0"/>
          <p:cNvSpPr/>
          <p:nvPr/>
        </p:nvSpPr>
        <p:spPr>
          <a:xfrm>
            <a:off x="5120640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2027</a:t>
            </a:r>
            <a:endParaRPr lang="en-US" sz="1100" dirty="0"/>
          </a:p>
        </p:txBody>
      </p:sp>
      <p:sp>
        <p:nvSpPr>
          <p:cNvPr id="57" name="Text 51"/>
          <p:cNvSpPr/>
          <p:nvPr/>
        </p:nvSpPr>
        <p:spPr>
          <a:xfrm>
            <a:off x="5029200" y="35661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 deal</a:t>
            </a:r>
            <a:endParaRPr lang="en-US" sz="900" dirty="0"/>
          </a:p>
        </p:txBody>
      </p:sp>
      <p:sp>
        <p:nvSpPr>
          <p:cNvPr id="58" name="Text 52"/>
          <p:cNvSpPr/>
          <p:nvPr/>
        </p:nvSpPr>
        <p:spPr>
          <a:xfrm>
            <a:off x="4937760" y="3977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D4A843"/>
                </a:solidFill>
                <a:latin typeface="Arial" pitchFamily="34" charset="0"/>
                <a:cs typeface="Arial" pitchFamily="34" charset="-120"/>
              </a:rPr>
              <a:t>CIS +</a:t>
            </a:r>
            <a:r>
              <a:rPr lang="en-US" sz="700" i="1" dirty="0">
                <a:solidFill>
                  <a:srgbClr val="D4A843"/>
                </a:solidFill>
                <a:latin typeface="Arial" pitchFamily="34" charset="0"/>
                <a:cs typeface="Arial" pitchFamily="34" charset="-120"/>
              </a:rPr>
              <a:t>BRICS</a:t>
            </a:r>
            <a:endParaRPr lang="en-US" sz="700" dirty="0"/>
          </a:p>
        </p:txBody>
      </p:sp>
      <p:sp>
        <p:nvSpPr>
          <p:cNvPr id="59" name="Shape 53"/>
          <p:cNvSpPr/>
          <p:nvPr/>
        </p:nvSpPr>
        <p:spPr>
          <a:xfrm>
            <a:off x="7452360" y="3246120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4"/>
          <p:cNvSpPr/>
          <p:nvPr/>
        </p:nvSpPr>
        <p:spPr>
          <a:xfrm>
            <a:off x="7132320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2028</a:t>
            </a:r>
            <a:endParaRPr lang="en-US" sz="1100" dirty="0"/>
          </a:p>
        </p:txBody>
      </p:sp>
      <p:sp>
        <p:nvSpPr>
          <p:cNvPr id="61" name="Text 55"/>
          <p:cNvSpPr/>
          <p:nvPr/>
        </p:nvSpPr>
        <p:spPr>
          <a:xfrm>
            <a:off x="7040880" y="35661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$34M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Round</a:t>
            </a:r>
            <a:endParaRPr lang="en-US" sz="900" dirty="0"/>
          </a:p>
        </p:txBody>
      </p:sp>
      <p:sp>
        <p:nvSpPr>
          <p:cNvPr id="62" name="Text 56"/>
          <p:cNvSpPr/>
          <p:nvPr/>
        </p:nvSpPr>
        <p:spPr>
          <a:xfrm>
            <a:off x="6949440" y="3977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/ Series B</a:t>
            </a:r>
            <a:endParaRPr lang="en-US" sz="700" dirty="0"/>
          </a:p>
        </p:txBody>
      </p:sp>
      <p:sp>
        <p:nvSpPr>
          <p:cNvPr id="64" name="Text 58"/>
          <p:cNvSpPr/>
          <p:nvPr/>
        </p:nvSpPr>
        <p:spPr>
          <a:xfrm>
            <a:off x="2011680" y="4434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discuss partnership  →  info@kinoholding.ru</a:t>
            </a:r>
            <a:endParaRPr lang="en-US" sz="1400" dirty="0"/>
          </a:p>
        </p:txBody>
      </p:sp>
      <p:sp>
        <p:nvSpPr>
          <p:cNvPr id="65" name="Shape 59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536</Words>
  <Application>Microsoft Macintosh PowerPoint</Application>
  <PresentationFormat>Экран (16:9)</PresentationFormat>
  <Paragraphs>159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Arial</vt:lpstr>
      <vt:lpstr>Arial Black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Инвестиционная презентация — Кинохолдинг</dc:title>
  <dc:subject>PptxGenJS Presentation</dc:subject>
  <dc:creator>Кинохолдинг</dc:creator>
  <cp:lastModifiedBy>a</cp:lastModifiedBy>
  <cp:revision>10</cp:revision>
  <dcterms:created xsi:type="dcterms:W3CDTF">2026-04-02T09:58:45Z</dcterms:created>
  <dcterms:modified xsi:type="dcterms:W3CDTF">2026-04-05T10:35:49Z</dcterms:modified>
</cp:coreProperties>
</file>