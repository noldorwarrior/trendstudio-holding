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6000" b="1">
                <a:solidFill>
                  <a:srgbClr val="F5F5F5"/>
                </a:solidFill>
                <a:latin typeface="Georgia"/>
              </a:rPr>
              <a:t>TrendStudio Kinoholding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C9A961"/>
                </a:solidFill>
                <a:latin typeface="Georgia"/>
              </a:rPr>
              <a:t>Российский кинохолдинг нового поколения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Инвестиционный пакет для ограниченных партнёров (LP) · 2026–2028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2743200" cy="731520"/>
          </a:xfrm>
          <a:prstGeom prst="roundRect">
            <a:avLst/>
          </a:prstGeom>
          <a:solidFill>
            <a:srgbClr val="141A2A"/>
          </a:solidFill>
          <a:ln w="190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C9A961"/>
                </a:solidFill>
                <a:latin typeface="Calibri"/>
              </a:rPr>
              <a:t>Det IRR 20.09%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029200"/>
            <a:ext cx="2743200" cy="731520"/>
          </a:xfrm>
          <a:prstGeom prst="roundRect">
            <a:avLst/>
          </a:prstGeom>
          <a:solidFill>
            <a:srgbClr val="141A2A"/>
          </a:solidFill>
          <a:ln w="190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12064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C9A961"/>
                </a:solidFill>
                <a:latin typeface="Calibri"/>
              </a:rPr>
              <a:t>MoIC 2.0×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5029200"/>
            <a:ext cx="2743200" cy="731520"/>
          </a:xfrm>
          <a:prstGeom prst="roundRect">
            <a:avLst/>
          </a:prstGeom>
          <a:solidFill>
            <a:srgbClr val="141A2A"/>
          </a:solidFill>
          <a:ln w="190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512064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C9A961"/>
                </a:solidFill>
                <a:latin typeface="Calibri"/>
              </a:rPr>
              <a:t>3 000 млн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Calibri"/>
              </a:rPr>
              <a:t>Конфиденциально · Для квалифицированных инвесторов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Четыре ключевых факта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14630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C9A961"/>
                </a:solidFill>
                <a:latin typeface="Georgia"/>
              </a:rPr>
              <a:t>20.09%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Det IRR (главная метрика)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303520" cy="14630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C9A961"/>
                </a:solidFill>
                <a:latin typeface="Georgia"/>
              </a:rPr>
              <a:t>2.0×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MoIC на горизонте 5 лет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303520" cy="14630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199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C9A961"/>
                </a:solidFill>
                <a:latin typeface="Georgia"/>
              </a:rPr>
              <a:t>3 000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59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млн ₽ якорь фонда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749039"/>
            <a:ext cx="5303520" cy="14630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886199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C9A961"/>
                </a:solidFill>
                <a:latin typeface="Georgia"/>
              </a:rPr>
              <a:t>19.05%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09159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WACC (CAPM build-up)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760720"/>
            <a:ext cx="10972800" cy="64008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⚠ MC Mean IRR 7.24% — stress-метрика при неблагоприятном таймаутинге CF. Методологический разбор в Appendix 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Investment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Четыре столпа тезиса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18288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  <a:latin typeface="Georgia"/>
              </a:rPr>
              <a:t>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Georgia"/>
              </a:rPr>
              <a:t>Рыночное окно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9377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Нацпроект «Семья» + госзаказ формируют 5-летний попутный ветер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303520" cy="18288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194560"/>
            <a:ext cx="640080" cy="6400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67712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  <a:latin typeface="Georgia"/>
              </a:rPr>
              <a:t>T2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24028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Georgia"/>
              </a:rPr>
              <a:t>Pipeline-готовность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49377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7 проектов в разной стадии готовности; scripted, bankable, de-risked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5303520" cy="18288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70832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  <a:latin typeface="Georgia"/>
              </a:rPr>
              <a:t>T3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434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Georgia"/>
              </a:rPr>
              <a:t>Капитал-дисциплина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49377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Ограничение 3 000 млн ₽ якорь + waterfall W₃ защищает LP от размывания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114800"/>
            <a:ext cx="5303520" cy="18288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4297680"/>
            <a:ext cx="640080" cy="6400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370832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  <a:latin typeface="Georgia"/>
              </a:rPr>
              <a:t>T4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3434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Georgia"/>
              </a:rPr>
              <a:t>Exit-routes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120640"/>
            <a:ext cx="49377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7 каналов выхода: M&amp;A, стриминг-sell-off, secondary, IPO по субхолдингу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Тезис 1 — Рыночное окно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Государственная политика как долгосрочный драйвер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Ключевые драйверы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56032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Нацпроект «Семья» (2025–2030): ₽500+ млрд на культурную политику, в т.ч. кино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15468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ФП «Многодетная семья»: квота семейного контента +40% к 2028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4904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Фонд Кино + ИРИ: субсидии на скрипты, производство, дистрибуцию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4340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Запрет иностранного контента на госплатформах → вакуум для локального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3776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Стриминг-рынок РФ ~₽65 млрд, CAGR 18% (2025–2030)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01168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Market KPI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468880"/>
            <a:ext cx="3840480" cy="9144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56032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TAM РФ-кино 2028E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834640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9A961"/>
                </a:solidFill>
                <a:latin typeface="Georgia"/>
              </a:rPr>
              <a:t>₽180 млрд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520440"/>
            <a:ext cx="3840480" cy="9144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361188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SAM (наш сегмент)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886200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9A961"/>
                </a:solidFill>
                <a:latin typeface="Georgia"/>
              </a:rPr>
              <a:t>₽45 млрд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572000"/>
            <a:ext cx="3840480" cy="9144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466344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SOM к 2028 (план)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937760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9A961"/>
                </a:solidFill>
                <a:latin typeface="Georgia"/>
              </a:rPr>
              <a:t>₽4.5 млрд (10%)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Тезис 2 — Pipeline-готовность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7 проектов: 5 фильмов + 2 сериала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Ключевые драйверы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Pipeline · 7 проектов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5603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4688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  <a:latin typeface="Calibri"/>
              </a:rPr>
              <a:t>P1 · «Крылья Родины»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6974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Production · ₽650 млн · Q3 2026</a:t>
            </a:r>
          </a:p>
        </p:txBody>
      </p:sp>
      <p:sp>
        <p:nvSpPr>
          <p:cNvPr id="12" name="Oval 11"/>
          <p:cNvSpPr/>
          <p:nvPr/>
        </p:nvSpPr>
        <p:spPr>
          <a:xfrm>
            <a:off x="7818120" y="30632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7180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  <a:latin typeface="Calibri"/>
              </a:rPr>
              <a:t>P2 · «Северный путь»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20040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Post-Production · ₽480 млн · Q1 2027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356616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47472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  <a:latin typeface="Calibri"/>
              </a:rPr>
              <a:t>P3 · «Дом на Арбате»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70332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Development · ₽720 млн · Q4 2027</a:t>
            </a:r>
          </a:p>
        </p:txBody>
      </p:sp>
      <p:sp>
        <p:nvSpPr>
          <p:cNvPr id="18" name="Oval 17"/>
          <p:cNvSpPr/>
          <p:nvPr/>
        </p:nvSpPr>
        <p:spPr>
          <a:xfrm>
            <a:off x="7818120" y="4069080"/>
            <a:ext cx="182880" cy="1828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97764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  <a:latin typeface="Calibri"/>
              </a:rPr>
              <a:t>P4 · «Огонь и вода»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20624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Pre-Production · ₽550 млн · Q2 2027</a:t>
            </a:r>
          </a:p>
        </p:txBody>
      </p:sp>
      <p:sp>
        <p:nvSpPr>
          <p:cNvPr id="21" name="Oval 20"/>
          <p:cNvSpPr/>
          <p:nvPr/>
        </p:nvSpPr>
        <p:spPr>
          <a:xfrm>
            <a:off x="7818120" y="457200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48056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  <a:latin typeface="Calibri"/>
              </a:rPr>
              <a:t>P5 · «Наследники»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70916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Development · ₽890 млн · Q3 2028</a:t>
            </a:r>
          </a:p>
        </p:txBody>
      </p:sp>
      <p:sp>
        <p:nvSpPr>
          <p:cNvPr id="24" name="Oval 23"/>
          <p:cNvSpPr/>
          <p:nvPr/>
        </p:nvSpPr>
        <p:spPr>
          <a:xfrm>
            <a:off x="7818120" y="507492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49834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  <a:latin typeface="Calibri"/>
              </a:rPr>
              <a:t>P6 · «Песнь горизонта»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52120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Script · ₽420 млн · Q1 2028</a:t>
            </a:r>
          </a:p>
        </p:txBody>
      </p:sp>
      <p:sp>
        <p:nvSpPr>
          <p:cNvPr id="27" name="Oval 26"/>
          <p:cNvSpPr/>
          <p:nvPr/>
        </p:nvSpPr>
        <p:spPr>
          <a:xfrm>
            <a:off x="7818120" y="557784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548640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  <a:latin typeface="Calibri"/>
              </a:rPr>
              <a:t>P7 · «Время идти»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71500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Script · ₽390 млн · Q4 2028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Тезис 3 — Капитал-дисциплина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Ограничения на размывание + дисциплинированный бюджет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Ключевые драйверы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56032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Якорь 3 000 млн ₽ — hard cap, не увеличиваем без LP-одобрения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15468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Waterfall W₃ Public: 4 приоритетных уровня с защитой LP первого порядка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4904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Revenue blend 0.79 + 0.30 × hit_rate — E[blend] = 1.00 при hit_rate = 0.70 (base)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4340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Каждый проект ≤ 30% якоря — диверсификация внутри портфеля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3776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Нет cross-collateralisation между проектами на уровне equity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52160"/>
            <a:ext cx="10972800" cy="5029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16168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5C98A"/>
                </a:solidFill>
                <a:latin typeface="Consolas"/>
              </a:rPr>
              <a:t>f(·) Revenue_project = Budget × (0.79 + 0.30 × hit_rate_i), i ∈ {P1..P7}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Тезис 4 — Exit-routes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7 альтернативных каналов выхода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Ключевые драйверы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Exit routes · prob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743200"/>
            <a:ext cx="3840480" cy="1828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743200"/>
            <a:ext cx="1728216" cy="1828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5F5F5"/>
                </a:solidFill>
                <a:latin typeface="Calibri"/>
              </a:rPr>
              <a:t>E1 · Secondary sale LP-stake · 45%  (Y3-Y5)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291840"/>
            <a:ext cx="3840480" cy="1828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3291840"/>
            <a:ext cx="1152144" cy="1828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5F5F5"/>
                </a:solidFill>
                <a:latin typeface="Calibri"/>
              </a:rPr>
              <a:t>E2 · M&amp;A стратегическому игроку · 30%  (Y4-Y6)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840480"/>
            <a:ext cx="3840480" cy="1828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3840480"/>
            <a:ext cx="576072" cy="1828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56616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5F5F5"/>
                </a:solidFill>
                <a:latin typeface="Calibri"/>
              </a:rPr>
              <a:t>E3 · IPO субхолдинга на МосБирже · 15%  (Y5-Y7)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389120"/>
            <a:ext cx="3840480" cy="1828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4389120"/>
            <a:ext cx="2304288" cy="1828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1480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5F5F5"/>
                </a:solidFill>
                <a:latin typeface="Calibri"/>
              </a:rPr>
              <a:t>E4 · Streaming catalog sell-off · 60%  (Y2-Y5)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937760"/>
            <a:ext cx="3840480" cy="1828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4937760"/>
            <a:ext cx="3072384" cy="1828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66344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5F5F5"/>
                </a:solidFill>
                <a:latin typeface="Calibri"/>
              </a:rPr>
              <a:t>E5 · Theatrical distribution rights · 80%  (Y1-Y3)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5486400"/>
            <a:ext cx="3840480" cy="1828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5486400"/>
            <a:ext cx="1536192" cy="1828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521208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5F5F5"/>
                </a:solidFill>
                <a:latin typeface="Calibri"/>
              </a:rPr>
              <a:t>E6 · Franchise/IP licensing · 40%  (Y3+)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6035040"/>
            <a:ext cx="3840480" cy="1828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6035040"/>
            <a:ext cx="768096" cy="1828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576072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5F5F5"/>
                </a:solidFill>
                <a:latin typeface="Calibri"/>
              </a:rPr>
              <a:t>E7 · Management buyout · 20%  (Y5+)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Market — TAM/SAM/SOM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Российский кинорынок 2028E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pezoid 6"/>
          <p:cNvSpPr/>
          <p:nvPr/>
        </p:nvSpPr>
        <p:spPr>
          <a:xfrm>
            <a:off x="1523847" y="2103120"/>
            <a:ext cx="9144000" cy="1097280"/>
          </a:xfrm>
          <a:prstGeom prst="trapezoid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3847" y="2240280"/>
            <a:ext cx="9144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A0E1A"/>
                </a:solidFill>
                <a:latin typeface="Georgia"/>
              </a:rPr>
              <a:t>TAM · ₽180 млрд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847" y="26974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0A0E1A"/>
                </a:solidFill>
                <a:latin typeface="Calibri"/>
              </a:rPr>
              <a:t>Весь РФ-кинорынок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95447" y="3474720"/>
            <a:ext cx="6400800" cy="1097280"/>
          </a:xfrm>
          <a:prstGeom prst="rect">
            <a:avLst/>
          </a:prstGeom>
          <a:solidFill>
            <a:srgbClr val="E5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5447" y="361188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A0E1A"/>
                </a:solidFill>
                <a:latin typeface="Georgia"/>
              </a:rPr>
              <a:t>SAM · ₽45 млрд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447" y="40690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0A0E1A"/>
                </a:solidFill>
                <a:latin typeface="Calibri"/>
              </a:rPr>
              <a:t>Наш сегмент: mid-budget RU-language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5647" y="4846320"/>
            <a:ext cx="32004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5647" y="49834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A0E1A"/>
                </a:solidFill>
                <a:latin typeface="Georgia"/>
              </a:rPr>
              <a:t>SOM · ₽4.5 млрд 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647" y="5440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0A0E1A"/>
                </a:solidFill>
                <a:latin typeface="Calibri"/>
              </a:rPr>
              <a:t>Плановая доля (10%)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Источники: Источники: Фонд Кино 2025 Annual, ИРИ Statistical Report 2025, PwC Media Outlook.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Market Drivers — 5 КПЭ нацпроекта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Индикаторы госполитики 2025–2030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66160" cy="173736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Доля отечественного контента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52 %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9A961"/>
                </a:solidFill>
                <a:latin typeface="Georgia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74320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9A961"/>
                </a:solidFill>
                <a:latin typeface="Georgia"/>
              </a:rPr>
              <a:t>75 %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Calibri"/>
              </a:rPr>
              <a:t>Рост: +44% к 2030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2103120"/>
            <a:ext cx="3566160" cy="173736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2402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Объём производства (фильмов/год)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74320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125 шт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74320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9A961"/>
                </a:solidFill>
                <a:latin typeface="Georgia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74320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9A961"/>
                </a:solidFill>
                <a:latin typeface="Georgia"/>
              </a:rPr>
              <a:t>180 шт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337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Calibri"/>
              </a:rPr>
              <a:t>Рост: +44% к 2030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57615" y="2103120"/>
            <a:ext cx="3566160" cy="173736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5" y="22402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Субсидии Фонд Кино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5" y="274320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12 млрд 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3535" y="274320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9A961"/>
                </a:solidFill>
                <a:latin typeface="Georgia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9295" y="274320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9A961"/>
                </a:solidFill>
                <a:latin typeface="Georgia"/>
              </a:rPr>
              <a:t>28 млрд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5" y="3337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Calibri"/>
              </a:rPr>
              <a:t>Рост: +133% к 2030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23360"/>
            <a:ext cx="3566160" cy="173736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Экспорт кинопродукции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6344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0.8 млрд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66344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9A961"/>
                </a:solidFill>
                <a:latin typeface="Georgia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66344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9A961"/>
                </a:solidFill>
                <a:latin typeface="Georgia"/>
              </a:rPr>
              <a:t>3.5 млрд 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578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Calibri"/>
              </a:rPr>
              <a:t>Рост: +270% к 2030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98848" y="4023360"/>
            <a:ext cx="3566160" cy="173736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416052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Количество кинотеатров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66344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2150 шт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663440"/>
            <a:ext cx="365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9A961"/>
                </a:solidFill>
                <a:latin typeface="Georgia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66344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9A961"/>
                </a:solidFill>
                <a:latin typeface="Georgia"/>
              </a:rPr>
              <a:t>2800 шт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52578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Calibri"/>
              </a:rPr>
              <a:t>Рост: +30% к 2030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Pipeline — 7 проектов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Разные стадии, сбалансированный риск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66160" cy="182880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566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C9A961"/>
                </a:solidFill>
                <a:latin typeface="Georgia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фильмов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2103120"/>
            <a:ext cx="3566160" cy="182880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377440"/>
            <a:ext cx="3566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C9A961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29184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сериалов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7615" y="2103120"/>
            <a:ext cx="3566160" cy="182880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2377440"/>
            <a:ext cx="3566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C9A961"/>
                </a:solidFill>
                <a:latin typeface="Georgia"/>
              </a:rPr>
              <a:t>₽4100 млн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329184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total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Распределение по стадиям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2194560" cy="146304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9A961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937760"/>
            <a:ext cx="2194560" cy="146304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66344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9A961"/>
                </a:solidFill>
                <a:latin typeface="Georg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419088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5669280"/>
            <a:ext cx="2194560" cy="7315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539496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9A961"/>
                </a:solidFill>
                <a:latin typeface="Georgia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6419088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Pre-Production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5669280"/>
            <a:ext cx="2194560" cy="7315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539496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9A961"/>
                </a:solidFill>
                <a:latin typeface="Georgia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6419088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5669280"/>
            <a:ext cx="2194560" cy="7315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539496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9A961"/>
                </a:solidFill>
                <a:latin typeface="Georgia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6419088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Post-Production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Pipeline Timeline 2026–2028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Релиз-календарь и cash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2779160"/>
            <a:ext cx="365760" cy="133564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91440" y="223052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9A961"/>
                </a:solidFill>
                <a:latin typeface="Calibri"/>
              </a:rPr>
              <a:t>₽650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40" y="25048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Calibri"/>
              </a:rPr>
              <a:t>P1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023360"/>
            <a:ext cx="182880" cy="1828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" y="4251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Q3 2026</a:t>
            </a:r>
          </a:p>
        </p:txBody>
      </p:sp>
      <p:sp>
        <p:nvSpPr>
          <p:cNvPr id="13" name="Oval 12"/>
          <p:cNvSpPr/>
          <p:nvPr/>
        </p:nvSpPr>
        <p:spPr>
          <a:xfrm>
            <a:off x="1938528" y="4041648"/>
            <a:ext cx="146304" cy="146304"/>
          </a:xfrm>
          <a:prstGeom prst="ellipse">
            <a:avLst/>
          </a:prstGeom>
          <a:solidFill>
            <a:srgbClr val="141A2A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251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Q4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128481"/>
            <a:ext cx="365760" cy="986319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579841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9A961"/>
                </a:solidFill>
                <a:latin typeface="Calibri"/>
              </a:rPr>
              <a:t>₽480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854161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Calibri"/>
              </a:rPr>
              <a:t>P2</a:t>
            </a:r>
          </a:p>
        </p:txBody>
      </p:sp>
      <p:sp>
        <p:nvSpPr>
          <p:cNvPr id="18" name="Oval 17"/>
          <p:cNvSpPr/>
          <p:nvPr/>
        </p:nvSpPr>
        <p:spPr>
          <a:xfrm>
            <a:off x="3291840" y="4023360"/>
            <a:ext cx="182880" cy="1828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4251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Q1 2027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84643"/>
            <a:ext cx="365760" cy="1130157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2436003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9A961"/>
                </a:solidFill>
                <a:latin typeface="Calibri"/>
              </a:rPr>
              <a:t>₽550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710323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Calibri"/>
              </a:rPr>
              <a:t>P4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4023360"/>
            <a:ext cx="182880" cy="1828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251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Q2 2027</a:t>
            </a:r>
          </a:p>
        </p:txBody>
      </p:sp>
      <p:sp>
        <p:nvSpPr>
          <p:cNvPr id="25" name="Oval 24"/>
          <p:cNvSpPr/>
          <p:nvPr/>
        </p:nvSpPr>
        <p:spPr>
          <a:xfrm>
            <a:off x="6053328" y="4041648"/>
            <a:ext cx="146304" cy="146304"/>
          </a:xfrm>
          <a:prstGeom prst="ellipse">
            <a:avLst/>
          </a:prstGeom>
          <a:solidFill>
            <a:srgbClr val="141A2A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4251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Q3 2027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635322"/>
            <a:ext cx="365760" cy="147947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08668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9A961"/>
                </a:solidFill>
                <a:latin typeface="Calibri"/>
              </a:rPr>
              <a:t>₽720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6100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Calibri"/>
              </a:rPr>
              <a:t>P3</a:t>
            </a:r>
          </a:p>
        </p:txBody>
      </p:sp>
      <p:sp>
        <p:nvSpPr>
          <p:cNvPr id="30" name="Oval 29"/>
          <p:cNvSpPr/>
          <p:nvPr/>
        </p:nvSpPr>
        <p:spPr>
          <a:xfrm>
            <a:off x="7406640" y="4023360"/>
            <a:ext cx="182880" cy="1828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4251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Q4 2027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251771"/>
            <a:ext cx="365760" cy="863029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2703131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9A961"/>
                </a:solidFill>
                <a:latin typeface="Calibri"/>
              </a:rPr>
              <a:t>₽420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977451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Calibri"/>
              </a:rPr>
              <a:t>P6</a:t>
            </a:r>
          </a:p>
        </p:txBody>
      </p:sp>
      <p:sp>
        <p:nvSpPr>
          <p:cNvPr id="35" name="Oval 34"/>
          <p:cNvSpPr/>
          <p:nvPr/>
        </p:nvSpPr>
        <p:spPr>
          <a:xfrm>
            <a:off x="8778240" y="4023360"/>
            <a:ext cx="182880" cy="1828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251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Q1 2028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2286000"/>
            <a:ext cx="365760" cy="18288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173736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9A961"/>
                </a:solidFill>
                <a:latin typeface="Calibri"/>
              </a:rPr>
              <a:t>₽890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201168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Calibri"/>
              </a:rPr>
              <a:t>P5</a:t>
            </a:r>
          </a:p>
        </p:txBody>
      </p:sp>
      <p:sp>
        <p:nvSpPr>
          <p:cNvPr id="40" name="Oval 39"/>
          <p:cNvSpPr/>
          <p:nvPr/>
        </p:nvSpPr>
        <p:spPr>
          <a:xfrm>
            <a:off x="10149840" y="4023360"/>
            <a:ext cx="182880" cy="1828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4251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Q3 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0" y="3313416"/>
            <a:ext cx="365760" cy="80138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60" y="2764776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9A961"/>
                </a:solidFill>
                <a:latin typeface="Calibri"/>
              </a:rPr>
              <a:t>₽390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3039096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Calibri"/>
              </a:rPr>
              <a:t>P7</a:t>
            </a:r>
          </a:p>
        </p:txBody>
      </p:sp>
      <p:sp>
        <p:nvSpPr>
          <p:cNvPr id="45" name="Oval 44"/>
          <p:cNvSpPr/>
          <p:nvPr/>
        </p:nvSpPr>
        <p:spPr>
          <a:xfrm>
            <a:off x="11521440" y="4023360"/>
            <a:ext cx="182880" cy="1828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64240" y="4251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Q4 2028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Высота столбца пропорциональна ожидаемому CF-in квартала. Золотая точка = релиз в квартале.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Revenue blend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0972800" cy="73152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5C98A"/>
                </a:solidFill>
                <a:latin typeface="Consolas"/>
              </a:rPr>
              <a:t>f: Revenue_i = Budget_i × (0.79 + 0.30 × hit_rate_i)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3566160" cy="2468880"/>
          </a:xfrm>
          <a:prstGeom prst="roundRect">
            <a:avLst/>
          </a:prstGeom>
          <a:solidFill>
            <a:srgbClr val="141A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Georgia"/>
              </a:rPr>
              <a:t>Downside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hit_rate = 0.40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  <a:latin typeface="Georgia"/>
              </a:rPr>
              <a:t>blend = 0.91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Georgia"/>
              </a:rPr>
              <a:t>× Revenue: 0.91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3017520"/>
            <a:ext cx="3566160" cy="2468880"/>
          </a:xfrm>
          <a:prstGeom prst="roundRect">
            <a:avLst/>
          </a:prstGeom>
          <a:solidFill>
            <a:srgbClr val="141A2A"/>
          </a:solidFill>
          <a:ln w="190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315468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9A961"/>
                </a:solidFill>
                <a:latin typeface="Georgia"/>
              </a:rPr>
              <a:t>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74904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hit_rate = 0.70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420624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  <a:latin typeface="Georgia"/>
              </a:rPr>
              <a:t>blend = 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475488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C9A961"/>
                </a:solidFill>
                <a:latin typeface="Georgia"/>
              </a:rPr>
              <a:t>× Revenue: 1.00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57615" y="3017520"/>
            <a:ext cx="3566160" cy="2468880"/>
          </a:xfrm>
          <a:prstGeom prst="roundRect">
            <a:avLst/>
          </a:prstGeom>
          <a:solidFill>
            <a:srgbClr val="14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5" y="315468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Georgia"/>
              </a:rPr>
              <a:t>Upside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374904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hit_rate = 1.00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420624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  <a:latin typeface="Georgia"/>
              </a:rPr>
              <a:t>blend = 1.09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475488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Georgia"/>
              </a:rPr>
              <a:t>× Revenue: 1.09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E[blend] = 1.00 при hit_rate = 0.70, что соответствует средним историческим данным по RU-mid-budget (Фонд Кино 2020–2024).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Financial Summary 3Y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Consolidated P&amp;L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4023360" cy="4114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A0E1A"/>
                </a:solidFill>
                <a:latin typeface="Calibri"/>
              </a:rPr>
              <a:t>Показатель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103120"/>
            <a:ext cx="1554480" cy="4114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7627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0A0E1A"/>
                </a:solidFill>
                <a:latin typeface="Calibri"/>
              </a:rPr>
              <a:t>Y1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1554480" cy="4114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7627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0A0E1A"/>
                </a:solidFill>
                <a:latin typeface="Calibri"/>
              </a:rPr>
              <a:t>Y2 (2027)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103120"/>
            <a:ext cx="1554480" cy="4114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17627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0A0E1A"/>
                </a:solidFill>
                <a:latin typeface="Calibri"/>
              </a:rPr>
              <a:t>Y3 (2028)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2103120"/>
            <a:ext cx="2286000" cy="4114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17627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0A0E1A"/>
                </a:solidFill>
                <a:latin typeface="Calibri"/>
              </a:rPr>
              <a:t>Итого 3Y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14600"/>
            <a:ext cx="402336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33472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Revenue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514600"/>
            <a:ext cx="155448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63347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₽650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514600"/>
            <a:ext cx="155448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63347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₽1 750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2514600"/>
            <a:ext cx="155448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63347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₽2 145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514600"/>
            <a:ext cx="228600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63347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₽4 545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017520"/>
            <a:ext cx="402336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136392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COGS (direct)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017520"/>
            <a:ext cx="155448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13639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₽390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017520"/>
            <a:ext cx="155448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13639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₽1 050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3017520"/>
            <a:ext cx="155448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13639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₽1 287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3017520"/>
            <a:ext cx="228600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13639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₽2 727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520440"/>
            <a:ext cx="402336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639312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Gross Profit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520440"/>
            <a:ext cx="155448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363931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₽260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520440"/>
            <a:ext cx="155448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63931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₽700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3520440"/>
            <a:ext cx="155448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363931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₽858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3520440"/>
            <a:ext cx="228600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363931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₽1 818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023360"/>
            <a:ext cx="402336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142232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OPEX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4023360"/>
            <a:ext cx="155448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0" y="414223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023360"/>
            <a:ext cx="155448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14223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₽150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4023360"/>
            <a:ext cx="155448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0" y="414223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₽220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4023360"/>
            <a:ext cx="228600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414223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5F5F5"/>
                </a:solidFill>
                <a:latin typeface="Calibri"/>
              </a:rPr>
              <a:t>₽450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4526280"/>
            <a:ext cx="402336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4645152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EBITDA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3440" y="4526280"/>
            <a:ext cx="155448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0" y="464515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C9A961"/>
                </a:solidFill>
                <a:latin typeface="Calibri"/>
              </a:rPr>
              <a:t>₽180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4526280"/>
            <a:ext cx="155448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464515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C9A961"/>
                </a:solidFill>
                <a:latin typeface="Calibri"/>
              </a:rPr>
              <a:t>₽550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4526280"/>
            <a:ext cx="155448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0" y="464515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C9A961"/>
                </a:solidFill>
                <a:latin typeface="Calibri"/>
              </a:rPr>
              <a:t>₽1 437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26880" y="4526280"/>
            <a:ext cx="2286000" cy="50292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18320" y="464515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C9A961"/>
                </a:solidFill>
                <a:latin typeface="Calibri"/>
              </a:rPr>
              <a:t>₽2 167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5029200"/>
            <a:ext cx="402336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5148072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NDP (к распределению)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63440" y="5029200"/>
            <a:ext cx="155448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0" y="514807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C9A961"/>
                </a:solidFill>
                <a:latin typeface="Calibri"/>
              </a:rPr>
              <a:t>₽75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5029200"/>
            <a:ext cx="155448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14807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C9A961"/>
                </a:solidFill>
                <a:latin typeface="Calibri"/>
              </a:rPr>
              <a:t>₽340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0" y="5029200"/>
            <a:ext cx="155448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0" y="514807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C9A961"/>
                </a:solidFill>
                <a:latin typeface="Calibri"/>
              </a:rPr>
              <a:t>₽970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26880" y="5029200"/>
            <a:ext cx="2286000" cy="50292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18320" y="5148072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C9A961"/>
                </a:solidFill>
                <a:latin typeface="Calibri"/>
              </a:rPr>
              <a:t>₽1 385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Valuation — 40/60 Blend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DCF 40% + Trading Multiples 60%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486400" cy="6858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DCF (5Y, WACC 19.05%)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059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weight 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1463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800" b="1">
                <a:solidFill>
                  <a:srgbClr val="C9A961"/>
                </a:solidFill>
                <a:latin typeface="Georgia"/>
              </a:rPr>
              <a:t>₽6.20 млрд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79"/>
            <a:ext cx="5486400" cy="6858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17519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Trading Multiples (6.5× EBITDA)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73551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weight 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39"/>
            <a:ext cx="1463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800" b="1">
                <a:solidFill>
                  <a:srgbClr val="C9A961"/>
                </a:solidFill>
                <a:latin typeface="Georgia"/>
              </a:rPr>
              <a:t>₽6.50 млрд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486400" cy="6858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40479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Blended 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96511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weight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886199"/>
            <a:ext cx="1463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800" b="1">
                <a:solidFill>
                  <a:srgbClr val="C9A961"/>
                </a:solidFill>
                <a:latin typeface="Georgia"/>
              </a:rPr>
              <a:t>₽6.38 млрд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EV → Equity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560320"/>
            <a:ext cx="502920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72491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Blended 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67919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1">
                <a:solidFill>
                  <a:srgbClr val="C9A961"/>
                </a:solidFill>
                <a:latin typeface="Georgia"/>
              </a:rPr>
              <a:t>₽6.38 млрд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291840"/>
            <a:ext cx="502920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45643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Net debt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1071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1">
                <a:solidFill>
                  <a:srgbClr val="C9A961"/>
                </a:solidFill>
                <a:latin typeface="Georgia"/>
              </a:rPr>
              <a:t>₽-0.50 млрд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023360"/>
            <a:ext cx="502920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18795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Equity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14223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1">
                <a:solidFill>
                  <a:srgbClr val="C9A961"/>
                </a:solidFill>
                <a:latin typeface="Georgia"/>
              </a:rPr>
              <a:t>₽6.88 млрд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754880"/>
            <a:ext cx="502920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91947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Implied MoIC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87375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1">
                <a:solidFill>
                  <a:srgbClr val="C9A961"/>
                </a:solidFill>
                <a:latin typeface="Georgia"/>
              </a:rPr>
              <a:t>2.0×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WACC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CAPM build-up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36576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66544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A0E1A"/>
                </a:solidFill>
                <a:latin typeface="Calibri"/>
              </a:rPr>
              <a:t>Компонент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011680"/>
            <a:ext cx="2286000" cy="36576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206654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A0E1A"/>
                </a:solidFill>
                <a:latin typeface="Calibri"/>
              </a:rPr>
              <a:t>Значение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2011680"/>
            <a:ext cx="3657600" cy="36576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066544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A0E1A"/>
                </a:solidFill>
                <a:latin typeface="Calibri"/>
              </a:rPr>
              <a:t>Источник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77440"/>
            <a:ext cx="50292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50592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Risk-free rate (ОФЗ 10Y)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377440"/>
            <a:ext cx="22860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245059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5F5F5"/>
                </a:solidFill>
                <a:latin typeface="Calibri"/>
              </a:rPr>
              <a:t>14.5%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2377440"/>
            <a:ext cx="36576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45059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Cbonds/MoEx 2026-04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70632"/>
            <a:ext cx="50292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43784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Beta (levered, peer-adj)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770632"/>
            <a:ext cx="22860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84378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5F5F5"/>
                </a:solidFill>
                <a:latin typeface="Calibri"/>
              </a:rPr>
              <a:t>0.8×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770632"/>
            <a:ext cx="36576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843784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Bloomberg/Capital IQ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163824"/>
            <a:ext cx="50292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36976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Equity Risk Premium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3163824"/>
            <a:ext cx="22860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323697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5F5F5"/>
                </a:solidFill>
                <a:latin typeface="Calibri"/>
              </a:rPr>
              <a:t>7.0%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3163824"/>
            <a:ext cx="36576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236976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Damodaran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557016"/>
            <a:ext cx="50292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63016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Country Risk Premium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557016"/>
            <a:ext cx="22860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363016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5F5F5"/>
                </a:solidFill>
                <a:latin typeface="Calibri"/>
              </a:rPr>
              <a:t>2.0%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3557016"/>
            <a:ext cx="36576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630168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Damodaran CRP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950208"/>
            <a:ext cx="50292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023360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Size Premium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3950208"/>
            <a:ext cx="22860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402336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5F5F5"/>
                </a:solidFill>
                <a:latin typeface="Calibri"/>
              </a:rPr>
              <a:t>1.0×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3950208"/>
            <a:ext cx="36576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402336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Kroll/D&amp;P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343400"/>
            <a:ext cx="50292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416552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Calibri"/>
              </a:rPr>
              <a:t>Cost of Equity (Ke)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4343400"/>
            <a:ext cx="22860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44165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C9A961"/>
                </a:solidFill>
                <a:latin typeface="Calibri"/>
              </a:rPr>
              <a:t>23.1%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4343400"/>
            <a:ext cx="36576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441655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CAPM sum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736592"/>
            <a:ext cx="50292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809744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Cost of Debt (after tax)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4736592"/>
            <a:ext cx="22860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0" y="480974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5F5F5"/>
                </a:solidFill>
                <a:latin typeface="Calibri"/>
              </a:rPr>
              <a:t>9.6%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736592"/>
            <a:ext cx="36576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4809744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weighted bank terms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129783"/>
            <a:ext cx="50292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202935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D/(D+E)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5129783"/>
            <a:ext cx="22860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0" y="5202935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5F5F5"/>
                </a:solidFill>
                <a:latin typeface="Calibri"/>
              </a:rPr>
              <a:t>30.0%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5129783"/>
            <a:ext cx="36576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0" y="5202935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target capital structure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522976"/>
            <a:ext cx="50292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59612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E/(D+E)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0" y="5522976"/>
            <a:ext cx="22860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0720" y="559612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5F5F5"/>
                </a:solidFill>
                <a:latin typeface="Calibri"/>
              </a:rPr>
              <a:t>70.0%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80" y="5522976"/>
            <a:ext cx="3657600" cy="393192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46720" y="5596128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target capital structure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5916168"/>
            <a:ext cx="50292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5989320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9A961"/>
                </a:solidFill>
                <a:latin typeface="Calibri"/>
              </a:rPr>
              <a:t>WACC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5916168"/>
            <a:ext cx="22860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0720" y="598932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C9A961"/>
                </a:solidFill>
                <a:latin typeface="Calibri"/>
              </a:rPr>
              <a:t>19.05%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80" y="5916168"/>
            <a:ext cx="3657600" cy="393192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46720" y="598932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0.70×23.1 + 0.30×9.6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Monte Carlo —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N = 50 000 · seed = 42 · 5 stochastic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303520" cy="8686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Hit rate per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E5C98A"/>
                </a:solidFill>
                <a:latin typeface="Consolas"/>
              </a:rPr>
              <a:t>Triangular(0.40, 0.70, 1.00)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303520" cy="8686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Budget overrun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E5C98A"/>
                </a:solidFill>
                <a:latin typeface="Consolas"/>
              </a:rPr>
              <a:t>LogNormal(μ=0, σ=0.15)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5303520" cy="8686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Release delay (quarters)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E5C98A"/>
                </a:solidFill>
                <a:latin typeface="Consolas"/>
              </a:rPr>
              <a:t>Poisson(λ=0.5)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108960"/>
            <a:ext cx="5303520" cy="8686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Distribution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661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E5C98A"/>
                </a:solidFill>
                <a:latin typeface="Consolas"/>
              </a:rPr>
              <a:t>Normal(35%, 5%)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5303520" cy="8686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Exit multiple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E5C98A"/>
                </a:solidFill>
                <a:latin typeface="Consolas"/>
              </a:rPr>
              <a:t>Triangular(5.5×, 6.5×, 7.5×)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972800" cy="64008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⚠ Det IRR — главная метрика (single best-estimate сценарий). MC — stress-тест CF-timing-риска.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Monte Carlo — IRR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Результаты 50 000 сценариев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Calibri"/>
              </a:rPr>
              <a:t>P5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31586" y="2103120"/>
            <a:ext cx="651694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26414" y="214884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-2.10%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Calibri"/>
              </a:rPr>
              <a:t>P25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606040"/>
            <a:ext cx="1055124" cy="32004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9844" y="265176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+3.40%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Calibri"/>
              </a:rPr>
              <a:t>P50 (Median)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108960"/>
            <a:ext cx="2203348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78068" y="315468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+7.10%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Calibri"/>
              </a:rPr>
              <a:t>Mean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611880"/>
            <a:ext cx="224679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1514" y="365760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+7.24%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Calibri"/>
              </a:rPr>
              <a:t>P75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4114800"/>
            <a:ext cx="347570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50424" y="416052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+11.20%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Calibri"/>
              </a:rPr>
              <a:t>P95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617720"/>
            <a:ext cx="4903226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7946" y="466344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+15.80%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17825" y="2011680"/>
            <a:ext cx="30000" cy="310896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6225" y="169164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9A961"/>
                </a:solidFill>
                <a:latin typeface="Calibri"/>
              </a:rPr>
              <a:t>Det IRR = 20.09%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Вертикальная пунктирная линия на 20.09% — Det IRR (главный таргет). MC распределение учитывает 5 источников стохастики.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Det vs Stoch IRR — методологическая справка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Почему 20.09% и 7.24% — не противоречие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200400" cy="4572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0E1A"/>
                </a:solidFill>
                <a:latin typeface="Calibri"/>
              </a:rPr>
              <a:t>Аспект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011680"/>
            <a:ext cx="41148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10312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0E1A"/>
                </a:solidFill>
                <a:latin typeface="Calibri"/>
              </a:rPr>
              <a:t>Det IRR (20.09%)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2011680"/>
            <a:ext cx="36576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0312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0E1A"/>
                </a:solidFill>
                <a:latin typeface="Calibri"/>
              </a:rPr>
              <a:t>MC Mean (7.24%)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3200400" cy="82296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Что отражает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468880"/>
            <a:ext cx="4114800" cy="82296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2560320"/>
            <a:ext cx="3840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Best-estimate сценарий с базовыми допущениями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2468880"/>
            <a:ext cx="3657600" cy="82296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560320"/>
            <a:ext cx="33832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Стресс-распределение при timing-uncertainty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91840"/>
            <a:ext cx="3200400" cy="82296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8328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Допущения по CF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291840"/>
            <a:ext cx="4114800" cy="82296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3383280"/>
            <a:ext cx="3840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Квартальные релизы по плану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3291840"/>
            <a:ext cx="3657600" cy="82296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383280"/>
            <a:ext cx="33832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Delay Poisson(0.5), до 4 кварталов сдвига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14800"/>
            <a:ext cx="3200400" cy="82296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0624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Hit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114800"/>
            <a:ext cx="4114800" cy="82296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40" y="4206240"/>
            <a:ext cx="3840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0.70 (historical median)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4114800"/>
            <a:ext cx="3657600" cy="822960"/>
          </a:xfrm>
          <a:prstGeom prst="rect">
            <a:avLst/>
          </a:prstGeom>
          <a:solidFill>
            <a:srgbClr val="141A2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206240"/>
            <a:ext cx="33832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Triangular(0.40, 0.70, 1.00)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2920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Использование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4937760"/>
            <a:ext cx="4114800" cy="82296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40" y="5029200"/>
            <a:ext cx="3840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Главная метрика, valuation, LP-return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4937760"/>
            <a:ext cx="3657600" cy="822960"/>
          </a:xfrm>
          <a:prstGeom prst="rect">
            <a:avLst/>
          </a:prstGeom>
          <a:solidFill>
            <a:srgbClr val="0A0E1A"/>
          </a:solidFill>
          <a:ln w="31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5029200"/>
            <a:ext cx="33832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Risk framework, stress-тест, lower-bound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852160"/>
            <a:ext cx="10972800" cy="64008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016752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0E1A"/>
                </a:solidFill>
                <a:latin typeface="Georgia"/>
              </a:rPr>
              <a:t>◆ Det 20.09% — то, что мы целим. MC 7.24% — то, что мы выдержим при ухудшении таймингов.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Risk Framework — Heat Map 5×5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30 рисков × 5 категорий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C9A961"/>
                </a:solidFill>
                <a:latin typeface="Calibri"/>
              </a:rPr>
              <a:t>Impact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5778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9A961"/>
                </a:solidFill>
                <a:latin typeface="Calibri"/>
              </a:rPr>
              <a:t>Likelihood 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663440"/>
            <a:ext cx="59436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4663440"/>
            <a:ext cx="59436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4663440"/>
            <a:ext cx="59436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4663440"/>
            <a:ext cx="594360" cy="594360"/>
          </a:xfrm>
          <a:prstGeom prst="rect">
            <a:avLst/>
          </a:prstGeom>
          <a:solidFill>
            <a:srgbClr val="C9A96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4663440"/>
            <a:ext cx="5943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4023360"/>
            <a:ext cx="59436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0" y="4023360"/>
            <a:ext cx="59436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4023360"/>
            <a:ext cx="594360" cy="594360"/>
          </a:xfrm>
          <a:prstGeom prst="rect">
            <a:avLst/>
          </a:prstGeom>
          <a:solidFill>
            <a:srgbClr val="C9A96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4023360"/>
            <a:ext cx="5943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4023360"/>
            <a:ext cx="5943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383280"/>
            <a:ext cx="59436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3383280"/>
            <a:ext cx="594360" cy="594360"/>
          </a:xfrm>
          <a:prstGeom prst="rect">
            <a:avLst/>
          </a:prstGeom>
          <a:solidFill>
            <a:srgbClr val="C9A96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383280"/>
            <a:ext cx="594360" cy="594360"/>
          </a:xfrm>
          <a:prstGeom prst="rect">
            <a:avLst/>
          </a:prstGeom>
          <a:solidFill>
            <a:srgbClr val="C9A96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3383280"/>
            <a:ext cx="5943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3383280"/>
            <a:ext cx="59436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2743200"/>
            <a:ext cx="594360" cy="594360"/>
          </a:xfrm>
          <a:prstGeom prst="rect">
            <a:avLst/>
          </a:prstGeom>
          <a:solidFill>
            <a:srgbClr val="C9A961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2743200"/>
            <a:ext cx="5943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2743200"/>
            <a:ext cx="5943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0640" y="2743200"/>
            <a:ext cx="59436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2743200"/>
            <a:ext cx="59436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2103120"/>
            <a:ext cx="5943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2103120"/>
            <a:ext cx="5943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60" y="2103120"/>
            <a:ext cx="59436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0" y="2103120"/>
            <a:ext cx="59436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0" y="2103120"/>
            <a:ext cx="59436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212848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10312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Calibri"/>
              </a:rPr>
              <a:t>CRITICAL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395728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2 рисков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0" y="2944368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8346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Calibri"/>
              </a:rP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127248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5 рисков</a:t>
            </a:r>
          </a:p>
        </p:txBody>
      </p:sp>
      <p:sp>
        <p:nvSpPr>
          <p:cNvPr id="40" name="Oval 39"/>
          <p:cNvSpPr/>
          <p:nvPr/>
        </p:nvSpPr>
        <p:spPr>
          <a:xfrm>
            <a:off x="7772400" y="3675888"/>
            <a:ext cx="320040" cy="32004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35661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Calibri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858768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12 рисков</a:t>
            </a:r>
          </a:p>
        </p:txBody>
      </p:sp>
      <p:sp>
        <p:nvSpPr>
          <p:cNvPr id="43" name="Oval 42"/>
          <p:cNvSpPr/>
          <p:nvPr/>
        </p:nvSpPr>
        <p:spPr>
          <a:xfrm>
            <a:off x="7772400" y="4407408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42976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Calibri"/>
              </a:rPr>
              <a:t>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590288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11 рисков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Полная матрица — Appendix A (30 рисков с митигациями, owner, trigger).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Топ-10 рисков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Ранжировано по severity × likelihood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486400" cy="7772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8483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Низкий hit rate флагманских проектов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5915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Calibri"/>
              </a:rPr>
              <a:t>Market · 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60320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→ Портфельная диверсификация ×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16352"/>
            <a:ext cx="5486400" cy="7772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953512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99232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89504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Budget overrun &gt;15%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163824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Calibri"/>
              </a:rPr>
              <a:t>Operational · 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3649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→ Completion bond + milestones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21024"/>
            <a:ext cx="5486400" cy="7772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3758184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03904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94176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Delay релиз-календаря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968496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Operational ·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69664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→ Буфер 2Q в финмодели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25696"/>
            <a:ext cx="5486400" cy="7772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562856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08576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49884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Изменение гос-квот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773168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Regulatory ·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974336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→ Диверсификация по жанрам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30368"/>
            <a:ext cx="5486400" cy="7772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" y="536752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13248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3035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Кассовый провал (2+ проекта)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577840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Market · 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779008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→ Revenue blend, secondary rights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011680"/>
            <a:ext cx="5486400" cy="7772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37960" y="21488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194560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Georgia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208483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Ключ-персонал отход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235915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Operational · 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560320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→ Retention pool 5%, successor plan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2816352"/>
            <a:ext cx="5486400" cy="7772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37960" y="295351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2999232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Georgia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2889504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Девальвация ₽ (имп. оборудование)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3163824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Financial · 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33649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→ Хедж 60% валютных расходов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3621024"/>
            <a:ext cx="5486400" cy="7772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537960" y="3758184"/>
            <a:ext cx="502920" cy="50292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3803904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Georgia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3694176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Изменение налогового режима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3968496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Calibri"/>
              </a:rPr>
              <a:t>Regulatory · 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4169664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→ Налоговое планирование, резерв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4425696"/>
            <a:ext cx="5486400" cy="7772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37960" y="4562856"/>
            <a:ext cx="502920" cy="50292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4608576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Georgia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449884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Конкуренция со стриминг-in-house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78040" y="4773168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Calibri"/>
              </a:rPr>
              <a:t>Strategic · MEDIUM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78040" y="4974336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→ Эксклюзивные windowing-сделки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5230368"/>
            <a:ext cx="5486400" cy="777240"/>
          </a:xfrm>
          <a:prstGeom prst="roundRect">
            <a:avLst/>
          </a:prstGeom>
          <a:solidFill>
            <a:srgbClr val="141A2A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37960" y="5367528"/>
            <a:ext cx="502920" cy="50292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5413248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Georgia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53035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Calibri"/>
              </a:rPr>
              <a:t>Задержка выплат дистрибьюторов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78040" y="5577840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C9A961"/>
                </a:solidFill>
                <a:latin typeface="Calibri"/>
              </a:rPr>
              <a:t>Financial · MEDIUM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5779008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→ Аванс 30%, факторинг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Governance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4 комитета + 3-tier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16459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Georgia"/>
              </a:rPr>
              <a:t>Investment Committee (IC)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Состав: 3 LP + 2 GP + 1 independent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Периодичность: Ежеквартально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Scope: Проекты &gt;₽300 млн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303520" cy="16459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Georgia"/>
              </a:rPr>
              <a:t>Audit Committee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Состав: 2 LP + 1 independent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Периодичность: Полугодовой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918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Scope: Финансовая отчётность, IFRS-аудит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5303520" cy="16459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Georgia"/>
              </a:rPr>
              <a:t>Risk &amp;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Состав: 1 LP + 2 GP + CRO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Периодичность: Ежемесячно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Scope: Risk register, compliance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5303520" cy="16459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Georgia"/>
              </a:rPr>
              <a:t>Nomination &amp; Comp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Состав: 2 LP + 1 independent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548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Периодичность: Годовой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1206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Scope: Ключевые назначения, вознаграждение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60720"/>
            <a:ext cx="10972800" cy="64008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70448"/>
            <a:ext cx="106070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9A961"/>
                </a:solidFill>
                <a:latin typeface="Calibri"/>
              </a:rPr>
              <a:t>Reporting cadence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26480"/>
            <a:ext cx="10607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Calibri"/>
              </a:rPr>
              <a:t>Monthly ops dashboard  ·  Quarterly IFRS report  ·  Annual audited financials + LP letter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Waterfall W₃ — Public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4 приоритетных уровня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103120"/>
            <a:ext cx="731520" cy="73152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A0E1A"/>
                </a:solidFill>
                <a:latin typeface="Georgia"/>
              </a:rPr>
              <a:t>T1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103120"/>
            <a:ext cx="10058400" cy="73152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194560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Georgia"/>
              </a:rPr>
              <a:t>Return of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68880"/>
            <a:ext cx="7772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LP получают 100% вложенного капитала назад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331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5C98A"/>
                </a:solidFill>
                <a:latin typeface="Calibri"/>
              </a:rPr>
              <a:t>до 3 000 млн ₽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26079"/>
            <a:ext cx="731520" cy="73152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90671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A0E1A"/>
                </a:solidFill>
                <a:latin typeface="Georgia"/>
              </a:rPr>
              <a:t>T2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2926079"/>
            <a:ext cx="10058400" cy="73152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017519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Georgia"/>
              </a:rPr>
              <a:t>Preferred Return (pref)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291839"/>
            <a:ext cx="7772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LP получают 8% IRR pref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154679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5C98A"/>
                </a:solidFill>
                <a:latin typeface="Calibri"/>
              </a:rPr>
              <a:t>8% IRR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749039"/>
            <a:ext cx="731520" cy="73152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13631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A0E1A"/>
                </a:solidFill>
                <a:latin typeface="Georgia"/>
              </a:rPr>
              <a:t>T3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3749039"/>
            <a:ext cx="10058400" cy="73152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3840479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Georgia"/>
              </a:rPr>
              <a:t>Catch-up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114799"/>
            <a:ext cx="7772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GP получают 20% catch-up до split 80/20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77639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5C98A"/>
                </a:solidFill>
                <a:latin typeface="Calibri"/>
              </a:rPr>
              <a:t>до catch-up point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572000"/>
            <a:ext cx="731520" cy="73152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36592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A0E1A"/>
                </a:solidFill>
                <a:latin typeface="Georgia"/>
              </a:rPr>
              <a:t>T4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54480" y="4572000"/>
            <a:ext cx="10058400" cy="73152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663440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Georgia"/>
              </a:rPr>
              <a:t>Carried Interest 80/20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937760"/>
            <a:ext cx="7772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Свыше porog — 80% LP, 20% GP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8006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5C98A"/>
                </a:solidFill>
                <a:latin typeface="Calibri"/>
              </a:rPr>
              <a:t>всё сверху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Полная mechanics + примеры — Section 7 Memo.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Terms &amp; Exit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Ключевые условия инвестирования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57200"/>
          </a:xfrm>
          <a:prstGeom prst="rect">
            <a:avLst/>
          </a:prstGeom>
          <a:solidFill>
            <a:srgbClr val="141A2A"/>
          </a:solidFill>
          <a:ln w="381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Fund size (hard cap)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C9A961"/>
                </a:solidFill>
                <a:latin typeface="Calibri"/>
              </a:rPr>
              <a:t>3 000 млн 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303520" cy="457200"/>
          </a:xfrm>
          <a:prstGeom prst="rect">
            <a:avLst/>
          </a:prstGeom>
          <a:solidFill>
            <a:srgbClr val="141A2A"/>
          </a:solidFill>
          <a:ln w="381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2140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Minimum LP commitment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1031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C9A961"/>
                </a:solidFill>
                <a:latin typeface="Calibri"/>
              </a:rPr>
              <a:t>300 млн 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5303520" cy="457200"/>
          </a:xfrm>
          <a:prstGeom prst="rect">
            <a:avLst/>
          </a:prstGeom>
          <a:solidFill>
            <a:srgbClr val="141A2A"/>
          </a:solidFill>
          <a:ln w="381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2432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Fund 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0604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C9A961"/>
                </a:solidFill>
                <a:latin typeface="Calibri"/>
              </a:rPr>
              <a:t>7 лет + 2×1-year extension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514600"/>
            <a:ext cx="5303520" cy="457200"/>
          </a:xfrm>
          <a:prstGeom prst="rect">
            <a:avLst/>
          </a:prstGeom>
          <a:solidFill>
            <a:srgbClr val="141A2A"/>
          </a:solidFill>
          <a:ln w="381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2432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Investment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60604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C9A961"/>
                </a:solidFill>
                <a:latin typeface="Calibri"/>
              </a:rPr>
              <a:t>3 года (2026–2028)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17520"/>
            <a:ext cx="5303520" cy="457200"/>
          </a:xfrm>
          <a:prstGeom prst="rect">
            <a:avLst/>
          </a:prstGeom>
          <a:solidFill>
            <a:srgbClr val="141A2A"/>
          </a:solidFill>
          <a:ln w="381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2724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Management fee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10896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C9A961"/>
                </a:solidFill>
                <a:latin typeface="Calibri"/>
              </a:rPr>
              <a:t>2.0% committed (during IP), 1.5% (after)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17520"/>
            <a:ext cx="5303520" cy="457200"/>
          </a:xfrm>
          <a:prstGeom prst="rect">
            <a:avLst/>
          </a:prstGeom>
          <a:solidFill>
            <a:srgbClr val="141A2A"/>
          </a:solidFill>
          <a:ln w="381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12724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Carried interest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10896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C9A961"/>
                </a:solidFill>
                <a:latin typeface="Calibri"/>
              </a:rPr>
              <a:t>20% с 8% pref + catch-up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20440"/>
            <a:ext cx="5303520" cy="457200"/>
          </a:xfrm>
          <a:prstGeom prst="rect">
            <a:avLst/>
          </a:prstGeom>
          <a:solidFill>
            <a:srgbClr val="141A2A"/>
          </a:solidFill>
          <a:ln w="381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3016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GP commitment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61188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C9A961"/>
                </a:solidFill>
                <a:latin typeface="Calibri"/>
              </a:rPr>
              <a:t>2% (60 млн ₽)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520440"/>
            <a:ext cx="5303520" cy="457200"/>
          </a:xfrm>
          <a:prstGeom prst="rect">
            <a:avLst/>
          </a:prstGeom>
          <a:solidFill>
            <a:srgbClr val="141A2A"/>
          </a:solidFill>
          <a:ln w="381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63016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Capital call notice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61188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C9A961"/>
                </a:solidFill>
                <a:latin typeface="Calibri"/>
              </a:rPr>
              <a:t>15 рабочих дней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023360"/>
            <a:ext cx="5303520" cy="457200"/>
          </a:xfrm>
          <a:prstGeom prst="rect">
            <a:avLst/>
          </a:prstGeom>
          <a:solidFill>
            <a:srgbClr val="141A2A"/>
          </a:solidFill>
          <a:ln w="381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13308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Calibri"/>
              </a:rPr>
              <a:t>Key-person clause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11480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C9A961"/>
                </a:solidFill>
                <a:latin typeface="Calibri"/>
              </a:rPr>
              <a:t>Да, 2 co-founders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Georgia"/>
              </a:rPr>
              <a:t>Appendices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9A961"/>
                </a:solidFill>
                <a:latin typeface="Calibri"/>
              </a:rPr>
              <a:t>5 приложений к Memo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7280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212848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945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C9A961"/>
                </a:solidFill>
                <a:latin typeface="Georgia"/>
              </a:rPr>
              <a:t>Appendix A · Risk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601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30 рисков × 5 категорий + heat map 5×5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39"/>
            <a:ext cx="1097280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7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99231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  <a:latin typeface="Georgia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26079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C9A961"/>
                </a:solidFill>
                <a:latin typeface="Georgia"/>
              </a:rPr>
              <a:t>Appendix B · Stress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82111"/>
            <a:ext cx="9601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5 сценариев (10/20/40/20/10 prob) + Tornado Top-8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1097280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675888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30752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  <a:latin typeface="Georgia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76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C9A961"/>
                </a:solidFill>
                <a:latin typeface="Georgia"/>
              </a:rPr>
              <a:t>Appendix C · MC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913632"/>
            <a:ext cx="9601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N=50 000, percentiles, histogram, методология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97680"/>
            <a:ext cx="1097280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4407408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62272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  <a:latin typeface="Georgia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3891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C9A961"/>
                </a:solidFill>
                <a:latin typeface="Georgia"/>
              </a:rPr>
              <a:t>Appendix D · Peer Comps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645152"/>
            <a:ext cx="9601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6+ сопоставимых транзакций RU + Global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29200"/>
            <a:ext cx="1097280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38928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93792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  <a:latin typeface="Georgia"/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206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C9A961"/>
                </a:solidFill>
                <a:latin typeface="Georgia"/>
              </a:rPr>
              <a:t>Appendix E · CAPM Build-Up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376672"/>
            <a:ext cx="9601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Полная источник-атрибуция (Damodaran/Bloomberg/Cbonds/Kroll)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TrendStudio Kinoholding · LP Deck v1.1.1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961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5F5F5"/>
                </a:solidFill>
                <a:latin typeface="Georgia"/>
              </a:rPr>
              <a:t>Contact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C9A961"/>
                </a:solidFill>
                <a:latin typeface="Georgia"/>
              </a:rPr>
              <a:t>Готовы к обсуждению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9728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Contacts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530352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Managing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[Имя]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1927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C9A961"/>
                </a:solidFill>
                <a:latin typeface="Consolas"/>
              </a:rPr>
              <a:t>mp@trendstudio.ru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530352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79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CFO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79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[Имя]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50791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C9A961"/>
                </a:solidFill>
                <a:latin typeface="Consolas"/>
              </a:rPr>
              <a:t>cfo@trendstudio.ru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60"/>
            <a:ext cx="5303520" cy="64008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LP Relations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Calibri"/>
              </a:rPr>
              <a:t>[Имя]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8231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C9A961"/>
                </a:solidFill>
                <a:latin typeface="Consolas"/>
              </a:rPr>
              <a:t>lp@trendstudio.ru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Next Steps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063240"/>
            <a:ext cx="365760" cy="3657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90672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0E1A"/>
                </a:solidFill>
                <a:latin typeface="Georgia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08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NDA + Data Room access (5 рабочих дней)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566159"/>
            <a:ext cx="365760" cy="3657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93591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0E1A"/>
                </a:solidFill>
                <a:latin typeface="Georgi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611879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Management presentation (1 час, онлайн/офлайн)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069080"/>
            <a:ext cx="365760" cy="3657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096512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0E1A"/>
                </a:solidFill>
                <a:latin typeface="Georg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114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LP onboarding Q&amp;A (10 рабочих дней)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572000"/>
            <a:ext cx="365760" cy="3657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599432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0E1A"/>
                </a:solidFill>
                <a:latin typeface="Georg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6177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Subscription documents (2 недели)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5074920"/>
            <a:ext cx="365760" cy="36576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102352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0E1A"/>
                </a:solidFill>
                <a:latin typeface="Georgia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20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First capital call Q3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Материал носит конфиденциальный характер. Не является публичной офертой. Forward-looking statements основаны на допущениях, подлежат рискам.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